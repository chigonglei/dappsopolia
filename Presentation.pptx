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75" r:id="rId1"/>
  </p:sldMasterIdLst>
  <p:sldIdLst>
    <p:sldId id="256" r:id="rId2"/>
    <p:sldId id="279" r:id="rId3"/>
    <p:sldId id="280" r:id="rId4"/>
    <p:sldId id="281" r:id="rId5"/>
    <p:sldId id="268" r:id="rId6"/>
    <p:sldId id="267" r:id="rId7"/>
    <p:sldId id="266" r:id="rId8"/>
    <p:sldId id="265" r:id="rId9"/>
    <p:sldId id="260" r:id="rId10"/>
    <p:sldId id="269" r:id="rId11"/>
    <p:sldId id="270" r:id="rId12"/>
    <p:sldId id="271" r:id="rId13"/>
    <p:sldId id="278" r:id="rId14"/>
    <p:sldId id="273" r:id="rId15"/>
    <p:sldId id="275" r:id="rId16"/>
    <p:sldId id="276" r:id="rId17"/>
    <p:sldId id="277" r:id="rId18"/>
    <p:sldId id="274" r:id="rId19"/>
    <p:sldId id="26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AF1CF-BCC4-461D-B36B-437032015688}">
          <p14:sldIdLst>
            <p14:sldId id="256"/>
            <p14:sldId id="279"/>
            <p14:sldId id="280"/>
            <p14:sldId id="281"/>
            <p14:sldId id="268"/>
            <p14:sldId id="267"/>
            <p14:sldId id="266"/>
            <p14:sldId id="265"/>
            <p14:sldId id="260"/>
            <p14:sldId id="269"/>
            <p14:sldId id="270"/>
            <p14:sldId id="271"/>
            <p14:sldId id="278"/>
            <p14:sldId id="273"/>
            <p14:sldId id="275"/>
            <p14:sldId id="276"/>
            <p14:sldId id="277"/>
            <p14:sldId id="274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69" autoAdjust="0"/>
    <p:restoredTop sz="94660"/>
  </p:normalViewPr>
  <p:slideViewPr>
    <p:cSldViewPr snapToGrid="0">
      <p:cViewPr>
        <p:scale>
          <a:sx n="100" d="100"/>
          <a:sy n="100" d="100"/>
        </p:scale>
        <p:origin x="34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4592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09409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730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1861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24535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7775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17913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60199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3860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6355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11003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36553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411362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39634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488167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9346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157"/>
            <a:ext cx="2356674" cy="6853096"/>
            <a:chOff x="6627813" y="195610"/>
            <a:chExt cx="1952625" cy="5678141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5610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11A471-1EBE-42C9-92BD-28F69F826B9B}" type="datetimeFigureOut">
              <a:rPr lang="en-IN" smtClean="0"/>
              <a:t>19-05-2026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A07A3BF2-0CAC-4FAC-BF49-ECE92EEA43D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9430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6" r:id="rId1"/>
    <p:sldLayoutId id="2147483977" r:id="rId2"/>
    <p:sldLayoutId id="2147483978" r:id="rId3"/>
    <p:sldLayoutId id="2147483979" r:id="rId4"/>
    <p:sldLayoutId id="2147483980" r:id="rId5"/>
    <p:sldLayoutId id="2147483981" r:id="rId6"/>
    <p:sldLayoutId id="2147483982" r:id="rId7"/>
    <p:sldLayoutId id="2147483983" r:id="rId8"/>
    <p:sldLayoutId id="2147483984" r:id="rId9"/>
    <p:sldLayoutId id="2147483985" r:id="rId10"/>
    <p:sldLayoutId id="2147483986" r:id="rId11"/>
    <p:sldLayoutId id="2147483987" r:id="rId12"/>
    <p:sldLayoutId id="2147483988" r:id="rId13"/>
    <p:sldLayoutId id="2147483989" r:id="rId14"/>
    <p:sldLayoutId id="2147483990" r:id="rId15"/>
    <p:sldLayoutId id="2147483991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461C9-8996-46B6-9396-43B9B03218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68582" y="1923430"/>
            <a:ext cx="6389818" cy="902882"/>
          </a:xfrm>
        </p:spPr>
        <p:txBody>
          <a:bodyPr>
            <a:normAutofit fontScale="90000"/>
          </a:bodyPr>
          <a:lstStyle/>
          <a:p>
            <a:pPr algn="l"/>
            <a:r>
              <a:rPr lang="en-IN" b="1" dirty="0"/>
              <a:t>Blockchain-Based E-Voting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B7C928-7978-44BE-B580-2B13A61C9E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3563" y="3475074"/>
            <a:ext cx="5386873" cy="2738535"/>
          </a:xfrm>
        </p:spPr>
        <p:txBody>
          <a:bodyPr>
            <a:normAutofit lnSpcReduction="10000"/>
          </a:bodyPr>
          <a:lstStyle/>
          <a:p>
            <a:r>
              <a:rPr lang="en-IN" dirty="0"/>
              <a:t>Presented By Sanjoy Khoirom</a:t>
            </a:r>
          </a:p>
          <a:p>
            <a:r>
              <a:rPr lang="en-IN" dirty="0"/>
              <a:t>MCA 4</a:t>
            </a:r>
            <a:r>
              <a:rPr lang="en-IN" baseline="30000" dirty="0"/>
              <a:t>th</a:t>
            </a:r>
            <a:r>
              <a:rPr lang="en-IN" dirty="0"/>
              <a:t> Sem, Roll No. 2450036</a:t>
            </a:r>
          </a:p>
          <a:p>
            <a:endParaRPr lang="en-IN" dirty="0"/>
          </a:p>
          <a:p>
            <a:r>
              <a:rPr lang="en-IN" dirty="0"/>
              <a:t>Under The Guidance of</a:t>
            </a:r>
          </a:p>
          <a:p>
            <a:r>
              <a:rPr lang="en-IN" dirty="0" err="1"/>
              <a:t>Dr.</a:t>
            </a:r>
            <a:r>
              <a:rPr lang="en-IN" dirty="0"/>
              <a:t> Nazrul Hoque</a:t>
            </a:r>
          </a:p>
          <a:p>
            <a:r>
              <a:rPr lang="en-IN" dirty="0"/>
              <a:t>Department Of Computer Science</a:t>
            </a:r>
          </a:p>
          <a:p>
            <a:r>
              <a:rPr lang="en-IN" dirty="0"/>
              <a:t>Manipur University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62ED9F4-6A75-46E6-885B-D8D09CD9C0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1100" y="1016645"/>
            <a:ext cx="1592151" cy="1699805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46DECBE9-59FA-48C8-BE8F-B680FC18F0AE}"/>
              </a:ext>
            </a:extLst>
          </p:cNvPr>
          <p:cNvSpPr txBox="1">
            <a:spLocks/>
          </p:cNvSpPr>
          <p:nvPr/>
        </p:nvSpPr>
        <p:spPr>
          <a:xfrm>
            <a:off x="1181100" y="2936173"/>
            <a:ext cx="9448800" cy="19081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1236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34391-CC5E-42CF-ADA3-195FAF47F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7D98E-2F9A-4D16-B8FE-B3A2DD8B4C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Blockchain-Based E-Voting System is being developed to provide a secure, transparent, and decentralized voting platform using blockchain technology. The implementation focuses on replacing traditional centralized voting mechanisms with smart contract-based automation to ensure vote integrity, prevent tampering, and improve public trust in elections.</a:t>
            </a:r>
          </a:p>
          <a:p>
            <a:r>
              <a:rPr lang="en-US" dirty="0"/>
              <a:t>The current development stage includes smart contract creation, blockchain deployment, frontend integration, wallet authentication, vote handling, and system testing.</a:t>
            </a:r>
          </a:p>
        </p:txBody>
      </p:sp>
    </p:spTree>
    <p:extLst>
      <p:ext uri="{BB962C8B-B14F-4D97-AF65-F5344CB8AC3E}">
        <p14:creationId xmlns:p14="http://schemas.microsoft.com/office/powerpoint/2010/main" val="2107120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89FB0-E1E9-4454-A043-B2E3AC746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Current Development Progress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A9741C9-EF04-40B7-B50D-E8EF963AD30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459282"/>
              </p:ext>
            </p:extLst>
          </p:nvPr>
        </p:nvGraphicFramePr>
        <p:xfrm>
          <a:off x="2592925" y="2133600"/>
          <a:ext cx="8911686" cy="2698750"/>
        </p:xfrm>
        <a:graphic>
          <a:graphicData uri="http://schemas.openxmlformats.org/drawingml/2006/table">
            <a:tbl>
              <a:tblPr/>
              <a:tblGrid>
                <a:gridCol w="4455843">
                  <a:extLst>
                    <a:ext uri="{9D8B030D-6E8A-4147-A177-3AD203B41FA5}">
                      <a16:colId xmlns:a16="http://schemas.microsoft.com/office/drawing/2014/main" val="2932086390"/>
                    </a:ext>
                  </a:extLst>
                </a:gridCol>
                <a:gridCol w="4455843">
                  <a:extLst>
                    <a:ext uri="{9D8B030D-6E8A-4147-A177-3AD203B41FA5}">
                      <a16:colId xmlns:a16="http://schemas.microsoft.com/office/drawing/2014/main" val="529130259"/>
                    </a:ext>
                  </a:extLst>
                </a:gridCol>
              </a:tblGrid>
              <a:tr h="269875">
                <a:tc>
                  <a:txBody>
                    <a:bodyPr/>
                    <a:lstStyle/>
                    <a:p>
                      <a:r>
                        <a:rPr lang="en-IN" sz="1300" b="1" dirty="0"/>
                        <a:t>Module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b="1" dirty="0"/>
                        <a:t>Progress Status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3964634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IN" sz="1300" dirty="0"/>
                        <a:t>Smart Contract Development / Deployment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Completed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4603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IN" sz="1300" dirty="0"/>
                        <a:t>Blockchain Network Setup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Completed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4999883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IN" sz="1300"/>
                        <a:t>Frontend User Interface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Completed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6205390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IN" sz="1300" dirty="0" err="1"/>
                        <a:t>MetaMask</a:t>
                      </a:r>
                      <a:r>
                        <a:rPr lang="en-IN" sz="1300" dirty="0"/>
                        <a:t> Wallet Integration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Completed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5823460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IN" sz="1300" dirty="0"/>
                        <a:t>Candidate Display Module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Completed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639751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IN" sz="1300" dirty="0"/>
                        <a:t>Duplicate Vote Prevention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Completed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2909755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US" sz="1300"/>
                        <a:t>Blockchain Interaction using Ethers.js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Completed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8701785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IN" sz="1300"/>
                        <a:t>Transaction Confirmation Handling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/>
                        <a:t>Completed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8159501"/>
                  </a:ext>
                </a:extLst>
              </a:tr>
              <a:tr h="269875">
                <a:tc>
                  <a:txBody>
                    <a:bodyPr/>
                    <a:lstStyle/>
                    <a:p>
                      <a:r>
                        <a:rPr lang="en-IN" sz="1300"/>
                        <a:t>Testing and Validation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Ongoing</a:t>
                      </a:r>
                    </a:p>
                  </a:txBody>
                  <a:tcPr marL="67469" marR="67469" marT="33734" marB="3373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368268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57374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5FD5D-1694-4FC3-9E12-43F45195A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Smart Contract Development</a:t>
            </a:r>
            <a:br>
              <a:rPr lang="en-IN"/>
            </a:b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42DEA0-EB7C-423C-B25E-768B71E59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49148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FFB06-980C-4643-B885-F6E907CDC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ARCHITECTURAL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99ACA6-C2D3-4855-BD74-A31DD2864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UI Layer: React frontend for user interaction.</a:t>
            </a:r>
          </a:p>
          <a:p>
            <a:r>
              <a:rPr lang="en-IN" dirty="0"/>
              <a:t>Wallet Layer: </a:t>
            </a:r>
            <a:r>
              <a:rPr lang="en-IN" dirty="0" err="1"/>
              <a:t>MetaMask</a:t>
            </a:r>
            <a:r>
              <a:rPr lang="en-IN" dirty="0"/>
              <a:t> for authentication.</a:t>
            </a:r>
          </a:p>
          <a:p>
            <a:r>
              <a:rPr lang="en-IN" dirty="0"/>
              <a:t>Contract Layer: Solidity logic on Ethereum.</a:t>
            </a:r>
          </a:p>
          <a:p>
            <a:r>
              <a:rPr lang="en-IN" dirty="0"/>
              <a:t>Data Layer: Permanent storage on </a:t>
            </a:r>
            <a:r>
              <a:rPr lang="en-IN" dirty="0" err="1"/>
              <a:t>Sepolia</a:t>
            </a:r>
            <a:r>
              <a:rPr lang="en-IN" dirty="0"/>
              <a:t> </a:t>
            </a:r>
            <a:r>
              <a:rPr lang="en-IN" dirty="0" err="1"/>
              <a:t>testnet</a:t>
            </a:r>
            <a:r>
              <a:rPr lang="en-IN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385482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9AE05-B4C3-480C-B6D7-481589FCE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DEVELOPMENT </a:t>
            </a:r>
            <a:r>
              <a:rPr lang="en-IN" dirty="0" err="1"/>
              <a:t>tOOLS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C9BFD1E-1F79-4929-84FF-FC537296E8C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535252"/>
            <a:ext cx="1918474" cy="2932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VS Code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Node.js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npm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Git &amp; GitHub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/>
              <a:t>Hardhat Testing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 err="1"/>
              <a:t>Sepolia</a:t>
            </a:r>
            <a:r>
              <a:rPr lang="en-IN" sz="1200" dirty="0"/>
              <a:t> Deployment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/>
              <a:t>Alchemy RPC / </a:t>
            </a:r>
            <a:r>
              <a:rPr lang="en-IN" sz="1200" dirty="0" err="1"/>
              <a:t>Infura</a:t>
            </a:r>
            <a:r>
              <a:rPr lang="en-IN" sz="12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/>
              <a:t>Ganache (Local Testing)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6530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9438F-67E4-4BFF-8264-668287C17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068387"/>
          </a:xfrm>
        </p:spPr>
        <p:txBody>
          <a:bodyPr/>
          <a:lstStyle/>
          <a:p>
            <a:r>
              <a:rPr lang="en-IN" dirty="0"/>
              <a:t>FRONTEND STACK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9A57022-7C6B-4E5F-B584-003C40E0FCD5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1590675" y="2706688"/>
            <a:ext cx="9144000" cy="16557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React.js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HTML5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CSS3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JavaScript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Tailwind CSS / Bootstrap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Axios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React Router DOM </a:t>
            </a:r>
          </a:p>
        </p:txBody>
      </p:sp>
    </p:spTree>
    <p:extLst>
      <p:ext uri="{BB962C8B-B14F-4D97-AF65-F5344CB8AC3E}">
        <p14:creationId xmlns:p14="http://schemas.microsoft.com/office/powerpoint/2010/main" val="2996786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6614D-0EFA-4EB1-94BD-ABF0321F9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Blockchain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AEEA2B-915F-4242-877A-256C19DCD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BLOCKCHAIN STACK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Ethereum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Solidity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 err="1"/>
              <a:t>Sepolia</a:t>
            </a:r>
            <a:r>
              <a:rPr lang="en-IN" dirty="0"/>
              <a:t> </a:t>
            </a:r>
            <a:r>
              <a:rPr lang="en-IN" dirty="0" err="1"/>
              <a:t>Testnet</a:t>
            </a:r>
            <a:r>
              <a:rPr lang="en-IN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Smart Contracts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 err="1"/>
              <a:t>MetaMask</a:t>
            </a:r>
            <a:r>
              <a:rPr lang="en-IN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Hardhat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dirty="0"/>
              <a:t>Ethers.js</a:t>
            </a:r>
          </a:p>
        </p:txBody>
      </p:sp>
    </p:spTree>
    <p:extLst>
      <p:ext uri="{BB962C8B-B14F-4D97-AF65-F5344CB8AC3E}">
        <p14:creationId xmlns:p14="http://schemas.microsoft.com/office/powerpoint/2010/main" val="20290223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B0F75-D7DD-4DB2-AF9D-CB2C148BB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SYSTEMIC LIMITATIONS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8F4BE-3222-4901-A6C6-4BE44E3939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Human Errors: Manual counting and data entry introduce critical errors in large-scale elections. Reporting Delays: Manual tabulation is time-consuming, delaying results and creating uncertainty. Access Barriers: Physical polling stations exclude remote voters and the elderly. 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69023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3F70-8B4B-48ED-A0A4-073DFB6DA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END-TO-END WORKFLOW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2D8CE-11E1-46A8-B6D5-494692BA41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1. Access 2. Connect Voter opens React app. </a:t>
            </a:r>
            <a:r>
              <a:rPr lang="en-US" dirty="0" err="1"/>
              <a:t>MetaMask</a:t>
            </a:r>
            <a:r>
              <a:rPr lang="en-US" dirty="0"/>
              <a:t> wallet links identity. 3. Cast Voter selects candidate and signs. 4. Validate Contract checks for duplicate address. 5. Finalize Vote stored; real-time dashboard updates.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23452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17BCE-735B-4247-B683-AC4A230F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 CONTRACT DESIGN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11002-CCA6-41A9-BE6B-0654C6042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Candidate Management: Mapping structures to store candidate profiles securely. State Management: Modifier-restricted functions for Admin controls (Register, Close). Event Emitting: Blockchain logs that allow the frontend to listen for live updates. Gas Optimization: Minimal storage patterns to reduce transaction costs for voters.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731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CB541-C325-4F35-9DEF-EE9C34A63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IMPLEMENTATION STATUS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EA2986-F094-456E-93C3-6FB0E7BCA9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0471244"/>
              </p:ext>
            </p:extLst>
          </p:nvPr>
        </p:nvGraphicFramePr>
        <p:xfrm>
          <a:off x="2832100" y="1993900"/>
          <a:ext cx="7315200" cy="3728722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3347574788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214162468"/>
                    </a:ext>
                  </a:extLst>
                </a:gridCol>
              </a:tblGrid>
              <a:tr h="602869">
                <a:tc>
                  <a:txBody>
                    <a:bodyPr/>
                    <a:lstStyle/>
                    <a:p>
                      <a:pPr algn="ctr"/>
                      <a:r>
                        <a:rPr lang="en-IN" b="1" i="0" u="sng" dirty="0"/>
                        <a:t>Module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b="1" i="0" u="sng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820274"/>
                  </a:ext>
                </a:extLst>
              </a:tr>
              <a:tr h="714377"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Smart Contract / Voting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/>
                        <a:t>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7473368"/>
                  </a:ext>
                </a:extLst>
              </a:tr>
              <a:tr h="602869">
                <a:tc>
                  <a:txBody>
                    <a:bodyPr/>
                    <a:lstStyle/>
                    <a:p>
                      <a:pPr algn="l"/>
                      <a:r>
                        <a:rPr lang="en-IN" dirty="0" err="1"/>
                        <a:t>MetaMask</a:t>
                      </a:r>
                      <a:r>
                        <a:rPr lang="en-IN" dirty="0"/>
                        <a:t> 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0411029"/>
                  </a:ext>
                </a:extLst>
              </a:tr>
              <a:tr h="602869"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Live Dashboard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1953787"/>
                  </a:ext>
                </a:extLst>
              </a:tr>
              <a:tr h="602869"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Candidate Registration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/>
                        <a:t>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6090140"/>
                  </a:ext>
                </a:extLst>
              </a:tr>
              <a:tr h="602869"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Vote Casting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dirty="0"/>
                        <a:t>Completed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80538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8226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AA15C-20E5-4E52-B253-CA8898AE0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CHALLENGES FACED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F0CAA-2754-4732-AEDE-0546A2851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sz="2600" b="1" dirty="0"/>
              <a:t>Network Delays</a:t>
            </a:r>
          </a:p>
          <a:p>
            <a:pPr marL="0" indent="0">
              <a:buNone/>
            </a:pPr>
            <a:r>
              <a:rPr lang="en-IN" sz="2600" dirty="0"/>
              <a:t>	</a:t>
            </a:r>
            <a:r>
              <a:rPr lang="en-IN" sz="2600" dirty="0" err="1"/>
              <a:t>Sepolia</a:t>
            </a:r>
            <a:r>
              <a:rPr lang="en-IN" sz="2600" dirty="0"/>
              <a:t> </a:t>
            </a:r>
            <a:r>
              <a:rPr lang="en-IN" sz="2600" dirty="0" err="1"/>
              <a:t>testnet</a:t>
            </a:r>
            <a:r>
              <a:rPr lang="en-IN" sz="2600" dirty="0"/>
              <a:t> congestion caused transaction lag. </a:t>
            </a:r>
          </a:p>
          <a:p>
            <a:pPr marL="0" indent="0">
              <a:buNone/>
            </a:pPr>
            <a:r>
              <a:rPr lang="en-IN" sz="2600" dirty="0"/>
              <a:t>	Solved using loading states and React spinners. </a:t>
            </a:r>
          </a:p>
          <a:p>
            <a:pPr marL="0" indent="0">
              <a:buNone/>
            </a:pPr>
            <a:endParaRPr lang="en-IN" sz="2600" dirty="0"/>
          </a:p>
          <a:p>
            <a:r>
              <a:rPr lang="en-IN" sz="2600" b="1" dirty="0"/>
              <a:t>UI Synchronization</a:t>
            </a:r>
          </a:p>
          <a:p>
            <a:pPr marL="0" indent="0">
              <a:buNone/>
            </a:pPr>
            <a:r>
              <a:rPr lang="en-IN" sz="2600" dirty="0"/>
              <a:t>	Keeping frontend data synced with blockchain events was difficult. </a:t>
            </a:r>
          </a:p>
          <a:p>
            <a:pPr marL="0" indent="0">
              <a:buNone/>
            </a:pPr>
            <a:r>
              <a:rPr lang="en-IN" sz="2600" dirty="0"/>
              <a:t>	Solved using Ethers.js event listeners and state updates. </a:t>
            </a:r>
          </a:p>
        </p:txBody>
      </p:sp>
    </p:spTree>
    <p:extLst>
      <p:ext uri="{BB962C8B-B14F-4D97-AF65-F5344CB8AC3E}">
        <p14:creationId xmlns:p14="http://schemas.microsoft.com/office/powerpoint/2010/main" val="12927051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89EA3-7AD2-410A-9D11-D16EF6F7B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FUTURE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0E9C1-2E75-4199-BFB1-50B5BA1372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Biometrics / Face Authentication - </a:t>
            </a:r>
            <a:r>
              <a:rPr lang="en-US" dirty="0"/>
              <a:t>Linking wallets to biological ID for legally binding elections.</a:t>
            </a:r>
          </a:p>
          <a:p>
            <a:r>
              <a:rPr lang="en-US" b="1" dirty="0"/>
              <a:t>Mobile App - </a:t>
            </a:r>
            <a:r>
              <a:rPr lang="en-US" dirty="0"/>
              <a:t>Developing React Native versions for broader accessibility.</a:t>
            </a:r>
          </a:p>
          <a:p>
            <a:r>
              <a:rPr lang="en-US" b="1" dirty="0"/>
              <a:t>AI Detection - </a:t>
            </a:r>
            <a:r>
              <a:rPr lang="en-US" dirty="0"/>
              <a:t>Using machine learning to flag coordinated manipulation attempts.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0966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151BF-FC9C-4308-B778-7A630308D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TESTING AND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AD4C56-DF12-47CD-AC66-997F645EBF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Hardhat Testing</a:t>
            </a:r>
          </a:p>
          <a:p>
            <a:r>
              <a:rPr lang="en-IN" dirty="0" err="1"/>
              <a:t>Sepolia</a:t>
            </a:r>
            <a:r>
              <a:rPr lang="en-IN" dirty="0"/>
              <a:t> Deployment</a:t>
            </a:r>
          </a:p>
          <a:p>
            <a:r>
              <a:rPr lang="en-IN" dirty="0"/>
              <a:t>Alchemy RPC / </a:t>
            </a:r>
            <a:r>
              <a:rPr lang="en-IN" dirty="0" err="1"/>
              <a:t>Infura</a:t>
            </a:r>
            <a:endParaRPr lang="en-IN" dirty="0"/>
          </a:p>
          <a:p>
            <a:r>
              <a:rPr lang="en-IN" dirty="0"/>
              <a:t>Ganache (Local Testing)</a:t>
            </a:r>
          </a:p>
          <a:p>
            <a:r>
              <a:rPr lang="en-US" dirty="0" err="1"/>
              <a:t>MetaMask</a:t>
            </a:r>
            <a:r>
              <a:rPr lang="en-US" dirty="0"/>
              <a:t> Wallet</a:t>
            </a:r>
          </a:p>
          <a:p>
            <a:r>
              <a:rPr lang="en-US" dirty="0"/>
              <a:t>Wallet Address Verification</a:t>
            </a:r>
          </a:p>
          <a:p>
            <a:r>
              <a:rPr lang="en-US" dirty="0"/>
              <a:t>Transaction Signing</a:t>
            </a:r>
          </a:p>
          <a:p>
            <a:r>
              <a:rPr lang="en-IN" dirty="0"/>
              <a:t>VS Code</a:t>
            </a:r>
          </a:p>
          <a:p>
            <a:r>
              <a:rPr lang="en-IN" dirty="0"/>
              <a:t>Node.js</a:t>
            </a:r>
          </a:p>
          <a:p>
            <a:r>
              <a:rPr lang="en-IN" dirty="0" err="1"/>
              <a:t>npm</a:t>
            </a:r>
            <a:endParaRPr lang="en-IN" dirty="0"/>
          </a:p>
          <a:p>
            <a:r>
              <a:rPr lang="en-IN" dirty="0"/>
              <a:t>Git &amp; GitHub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1312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86FDA-CD73-4DFE-877D-3D4643893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BLOCKCHAIN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F192C1-9F86-48B9-9841-9AA7344D3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Ethereum</a:t>
            </a:r>
          </a:p>
          <a:p>
            <a:r>
              <a:rPr lang="en-US" dirty="0"/>
              <a:t>Solidity</a:t>
            </a:r>
          </a:p>
          <a:p>
            <a:r>
              <a:rPr lang="en-US" dirty="0" err="1"/>
              <a:t>Sepolia</a:t>
            </a:r>
            <a:r>
              <a:rPr lang="en-US" dirty="0"/>
              <a:t> </a:t>
            </a:r>
            <a:r>
              <a:rPr lang="en-US" dirty="0" err="1"/>
              <a:t>Testnet</a:t>
            </a:r>
            <a:endParaRPr lang="en-US" dirty="0"/>
          </a:p>
          <a:p>
            <a:r>
              <a:rPr lang="en-US" dirty="0"/>
              <a:t>Smart Contracts</a:t>
            </a:r>
          </a:p>
          <a:p>
            <a:r>
              <a:rPr lang="en-US" dirty="0" err="1"/>
              <a:t>MetaMask</a:t>
            </a:r>
            <a:endParaRPr lang="en-US" dirty="0"/>
          </a:p>
          <a:p>
            <a:r>
              <a:rPr lang="en-US" dirty="0"/>
              <a:t>Hardhat</a:t>
            </a:r>
          </a:p>
          <a:p>
            <a:r>
              <a:rPr lang="en-US" dirty="0"/>
              <a:t>Ethers.js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20842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97A73-D1CB-447A-98FC-0AC2D72C26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FRONTEND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C26D0-1B60-4213-9093-AE609A33D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React.js</a:t>
            </a:r>
          </a:p>
          <a:p>
            <a:r>
              <a:rPr lang="en-IN" dirty="0"/>
              <a:t>HTML5</a:t>
            </a:r>
          </a:p>
          <a:p>
            <a:r>
              <a:rPr lang="en-IN" dirty="0"/>
              <a:t>CSS3</a:t>
            </a:r>
          </a:p>
          <a:p>
            <a:r>
              <a:rPr lang="en-IN" dirty="0"/>
              <a:t>JavaScript</a:t>
            </a:r>
          </a:p>
          <a:p>
            <a:r>
              <a:rPr lang="en-IN" dirty="0"/>
              <a:t>Tailwind CSS / Bootstrap</a:t>
            </a:r>
          </a:p>
          <a:p>
            <a:r>
              <a:rPr lang="en-IN" dirty="0" err="1"/>
              <a:t>Axios</a:t>
            </a:r>
            <a:endParaRPr lang="en-IN" dirty="0"/>
          </a:p>
          <a:p>
            <a:r>
              <a:rPr lang="en-IN" dirty="0"/>
              <a:t>React Router DOM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1637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D5791-7D3E-4FA6-AEB1-6C59DEE78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48D916-D8C0-4EF5-B93A-2E3C67BC7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project successfully proves that blockchain can fundamentally transform the integrity of electoral systems. By eliminating single points of failure, we have built a provably fair, transparent, and decentralized platform ready for the future of democracy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4338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F35424-6A96-4BFC-908B-50C9A59544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FBDC5-17B0-4BC5-A9F6-DF485FF73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LITERATURE SURVEY Ethereum Systems Analysis of prior implementations using Solidity architectural patterns. Democracy Models Research into trustless, peerto-peer democratic governance models. Contract Security Study of vulnerabilities like reentrancy and overflow mitigatio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709779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2E5369"/>
      </a:dk2>
      <a:lt2>
        <a:srgbClr val="CFE2E7"/>
      </a:lt2>
      <a:accent1>
        <a:srgbClr val="353535"/>
      </a:accent1>
      <a:accent2>
        <a:srgbClr val="31B4E6"/>
      </a:accent2>
      <a:accent3>
        <a:srgbClr val="265991"/>
      </a:accent3>
      <a:accent4>
        <a:srgbClr val="7E40CC"/>
      </a:accent4>
      <a:accent5>
        <a:srgbClr val="B927E9"/>
      </a:accent5>
      <a:accent6>
        <a:srgbClr val="E833BF"/>
      </a:accent6>
      <a:hlink>
        <a:srgbClr val="2DA0F1"/>
      </a:hlink>
      <a:folHlink>
        <a:srgbClr val="7ED1E6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4F34B87B-9C7A-41AE-A6CB-48536223DFF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191</TotalTime>
  <Words>636</Words>
  <Application>Microsoft Office PowerPoint</Application>
  <PresentationFormat>Widescreen</PresentationFormat>
  <Paragraphs>129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Century Gothic</vt:lpstr>
      <vt:lpstr>Wingdings 3</vt:lpstr>
      <vt:lpstr>Wisp</vt:lpstr>
      <vt:lpstr>Blockchain-Based E-Voting System</vt:lpstr>
      <vt:lpstr>Introduction</vt:lpstr>
      <vt:lpstr>Current Development Progress</vt:lpstr>
      <vt:lpstr>Smart Contract Development </vt:lpstr>
      <vt:lpstr>ARCHITECTURAL LAYERS</vt:lpstr>
      <vt:lpstr>DEVELOPMENT tOOLS</vt:lpstr>
      <vt:lpstr>FRONTEND STACK</vt:lpstr>
      <vt:lpstr>Blockchain Stack</vt:lpstr>
      <vt:lpstr>SYSTEMIC LIMITATIONS</vt:lpstr>
      <vt:lpstr>END-TO-END WORKFLOW</vt:lpstr>
      <vt:lpstr>SMART CONTRACT DESIGN</vt:lpstr>
      <vt:lpstr>IMPLEMENTATION STATUS</vt:lpstr>
      <vt:lpstr>CHALLENGES FACED</vt:lpstr>
      <vt:lpstr>FUTURE SCOPE</vt:lpstr>
      <vt:lpstr>TESTING AND DEVELOPMENT</vt:lpstr>
      <vt:lpstr>BLOCKCHAIN STACK</vt:lpstr>
      <vt:lpstr>FRONTEND STACK</vt:lpstr>
      <vt:lpstr>Conclusion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Blockchain-Based E-Voting System</dc:title>
  <dc:creator>sanjoy khoirom</dc:creator>
  <cp:lastModifiedBy>sanjoy khoirom</cp:lastModifiedBy>
  <cp:revision>13</cp:revision>
  <dcterms:created xsi:type="dcterms:W3CDTF">2026-05-19T06:26:33Z</dcterms:created>
  <dcterms:modified xsi:type="dcterms:W3CDTF">2026-05-19T12:36:13Z</dcterms:modified>
</cp:coreProperties>
</file>