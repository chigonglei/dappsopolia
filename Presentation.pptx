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5" r:id="rId1"/>
  </p:sldMasterIdLst>
  <p:sldIdLst>
    <p:sldId id="256" r:id="rId2"/>
    <p:sldId id="279" r:id="rId3"/>
    <p:sldId id="289" r:id="rId4"/>
    <p:sldId id="268" r:id="rId5"/>
    <p:sldId id="267" r:id="rId6"/>
    <p:sldId id="301" r:id="rId7"/>
    <p:sldId id="303" r:id="rId8"/>
    <p:sldId id="302" r:id="rId9"/>
    <p:sldId id="299" r:id="rId10"/>
    <p:sldId id="300" r:id="rId11"/>
    <p:sldId id="265" r:id="rId12"/>
    <p:sldId id="283" r:id="rId13"/>
    <p:sldId id="284" r:id="rId14"/>
    <p:sldId id="286" r:id="rId15"/>
    <p:sldId id="298" r:id="rId16"/>
    <p:sldId id="277" r:id="rId17"/>
    <p:sldId id="285" r:id="rId18"/>
    <p:sldId id="292" r:id="rId19"/>
    <p:sldId id="293" r:id="rId20"/>
    <p:sldId id="294" r:id="rId21"/>
    <p:sldId id="295" r:id="rId22"/>
    <p:sldId id="296" r:id="rId23"/>
    <p:sldId id="304" r:id="rId24"/>
    <p:sldId id="305" r:id="rId25"/>
    <p:sldId id="297" r:id="rId26"/>
    <p:sldId id="269" r:id="rId27"/>
    <p:sldId id="287" r:id="rId28"/>
    <p:sldId id="288" r:id="rId29"/>
    <p:sldId id="278" r:id="rId30"/>
    <p:sldId id="273" r:id="rId31"/>
    <p:sldId id="274" r:id="rId32"/>
    <p:sldId id="30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BDAF1CF-BCC4-461D-B36B-437032015688}">
          <p14:sldIdLst>
            <p14:sldId id="256"/>
            <p14:sldId id="279"/>
            <p14:sldId id="289"/>
            <p14:sldId id="268"/>
            <p14:sldId id="267"/>
            <p14:sldId id="301"/>
            <p14:sldId id="303"/>
            <p14:sldId id="302"/>
            <p14:sldId id="299"/>
            <p14:sldId id="300"/>
            <p14:sldId id="265"/>
            <p14:sldId id="283"/>
            <p14:sldId id="284"/>
            <p14:sldId id="286"/>
            <p14:sldId id="298"/>
            <p14:sldId id="277"/>
            <p14:sldId id="285"/>
            <p14:sldId id="292"/>
            <p14:sldId id="293"/>
            <p14:sldId id="294"/>
            <p14:sldId id="295"/>
            <p14:sldId id="296"/>
            <p14:sldId id="304"/>
            <p14:sldId id="305"/>
            <p14:sldId id="297"/>
            <p14:sldId id="269"/>
            <p14:sldId id="287"/>
            <p14:sldId id="288"/>
            <p14:sldId id="278"/>
            <p14:sldId id="273"/>
            <p14:sldId id="274"/>
            <p14:sldId id="306"/>
          </p14:sldIdLst>
        </p14:section>
        <p14:section name="Untitled Section" id="{09F9965A-AF59-4B5B-8AB8-E10C0A21D5B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p:normalViewPr>
  <p:slideViewPr>
    <p:cSldViewPr snapToGrid="0">
      <p:cViewPr varScale="1">
        <p:scale>
          <a:sx n="48" d="100"/>
          <a:sy n="48" d="100"/>
        </p:scale>
        <p:origin x="38" y="7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154592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35209409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31707307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16718610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11A471-1EBE-42C9-92BD-28F69F826B9B}" type="datetimeFigureOut">
              <a:rPr lang="en-IN" smtClean="0"/>
              <a:t>20-05-2026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2092453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11A471-1EBE-42C9-92BD-28F69F826B9B}" type="datetimeFigureOut">
              <a:rPr lang="en-IN" smtClean="0"/>
              <a:t>20-05-2026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23877753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11A471-1EBE-42C9-92BD-28F69F826B9B}" type="datetimeFigureOut">
              <a:rPr lang="en-IN" smtClean="0"/>
              <a:t>20-05-2026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3617913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1160199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33138601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766355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07A3BF2-0CAC-4FAC-BF49-ECE92EEA43D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11003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40136553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7A3BF2-0CAC-4FAC-BF49-ECE92EEA43D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411362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911A471-1EBE-42C9-92BD-28F69F826B9B}"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1903963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5488167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1A471-1EBE-42C9-92BD-28F69F826B9B}"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07A3BF2-0CAC-4FAC-BF49-ECE92EEA43DE}" type="slidenum">
              <a:rPr lang="en-IN" smtClean="0"/>
              <a:t>‹#›</a:t>
            </a:fld>
            <a:endParaRPr lang="en-IN"/>
          </a:p>
        </p:txBody>
      </p:sp>
    </p:spTree>
    <p:extLst>
      <p:ext uri="{BB962C8B-B14F-4D97-AF65-F5344CB8AC3E}">
        <p14:creationId xmlns:p14="http://schemas.microsoft.com/office/powerpoint/2010/main" val="24793468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911A471-1EBE-42C9-92BD-28F69F826B9B}" type="datetimeFigureOut">
              <a:rPr lang="en-IN" smtClean="0"/>
              <a:t>20-05-2026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07A3BF2-0CAC-4FAC-BF49-ECE92EEA43DE}" type="slidenum">
              <a:rPr lang="en-IN" smtClean="0"/>
              <a:t>‹#›</a:t>
            </a:fld>
            <a:endParaRPr lang="en-IN"/>
          </a:p>
        </p:txBody>
      </p:sp>
    </p:spTree>
    <p:extLst>
      <p:ext uri="{BB962C8B-B14F-4D97-AF65-F5344CB8AC3E}">
        <p14:creationId xmlns:p14="http://schemas.microsoft.com/office/powerpoint/2010/main" val="949430148"/>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3988" r:id="rId13"/>
    <p:sldLayoutId id="2147483989" r:id="rId14"/>
    <p:sldLayoutId id="2147483990" r:id="rId15"/>
    <p:sldLayoutId id="2147483991" r:id="rId16"/>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461C9-8996-46B6-9396-43B9B0321832}"/>
              </a:ext>
            </a:extLst>
          </p:cNvPr>
          <p:cNvSpPr>
            <a:spLocks noGrp="1"/>
          </p:cNvSpPr>
          <p:nvPr>
            <p:ph type="ctrTitle"/>
          </p:nvPr>
        </p:nvSpPr>
        <p:spPr>
          <a:xfrm>
            <a:off x="3668582" y="1923430"/>
            <a:ext cx="6389818" cy="902882"/>
          </a:xfrm>
        </p:spPr>
        <p:txBody>
          <a:bodyPr>
            <a:normAutofit fontScale="90000"/>
          </a:bodyPr>
          <a:lstStyle/>
          <a:p>
            <a:pPr algn="l"/>
            <a:r>
              <a:rPr lang="en-IN" b="1" dirty="0"/>
              <a:t>Blockchain-Based E-Voting System</a:t>
            </a:r>
          </a:p>
        </p:txBody>
      </p:sp>
      <p:sp>
        <p:nvSpPr>
          <p:cNvPr id="3" name="Subtitle 2">
            <a:extLst>
              <a:ext uri="{FF2B5EF4-FFF2-40B4-BE49-F238E27FC236}">
                <a16:creationId xmlns:a16="http://schemas.microsoft.com/office/drawing/2014/main" id="{50B7C928-7978-44BE-B580-2B13A61C9EAD}"/>
              </a:ext>
            </a:extLst>
          </p:cNvPr>
          <p:cNvSpPr>
            <a:spLocks noGrp="1"/>
          </p:cNvSpPr>
          <p:nvPr>
            <p:ph type="subTitle" idx="1"/>
          </p:nvPr>
        </p:nvSpPr>
        <p:spPr>
          <a:xfrm>
            <a:off x="3783563" y="3475074"/>
            <a:ext cx="5386873" cy="2738535"/>
          </a:xfrm>
        </p:spPr>
        <p:txBody>
          <a:bodyPr>
            <a:normAutofit lnSpcReduction="10000"/>
          </a:bodyPr>
          <a:lstStyle/>
          <a:p>
            <a:r>
              <a:rPr lang="en-IN" dirty="0"/>
              <a:t>Presented By Sanjoy Khoirom</a:t>
            </a:r>
          </a:p>
          <a:p>
            <a:r>
              <a:rPr lang="en-IN" dirty="0"/>
              <a:t>MCA 4</a:t>
            </a:r>
            <a:r>
              <a:rPr lang="en-IN" baseline="30000" dirty="0"/>
              <a:t>th</a:t>
            </a:r>
            <a:r>
              <a:rPr lang="en-IN" dirty="0"/>
              <a:t> Sem, Roll No. 2450036</a:t>
            </a:r>
          </a:p>
          <a:p>
            <a:endParaRPr lang="en-IN" dirty="0"/>
          </a:p>
          <a:p>
            <a:r>
              <a:rPr lang="en-IN" dirty="0"/>
              <a:t>Under The Guidance of</a:t>
            </a:r>
          </a:p>
          <a:p>
            <a:r>
              <a:rPr lang="en-IN" dirty="0" err="1"/>
              <a:t>Dr.</a:t>
            </a:r>
            <a:r>
              <a:rPr lang="en-IN" dirty="0"/>
              <a:t> Nazrul Hoque, </a:t>
            </a:r>
          </a:p>
          <a:p>
            <a:r>
              <a:rPr lang="en-IN" dirty="0"/>
              <a:t>Department Of Computer Science</a:t>
            </a:r>
          </a:p>
          <a:p>
            <a:r>
              <a:rPr lang="en-IN" dirty="0"/>
              <a:t>Manipur University</a:t>
            </a:r>
          </a:p>
        </p:txBody>
      </p:sp>
      <p:pic>
        <p:nvPicPr>
          <p:cNvPr id="5" name="Picture 4">
            <a:extLst>
              <a:ext uri="{FF2B5EF4-FFF2-40B4-BE49-F238E27FC236}">
                <a16:creationId xmlns:a16="http://schemas.microsoft.com/office/drawing/2014/main" id="{162ED9F4-6A75-46E6-885B-D8D09CD9C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1100" y="1016645"/>
            <a:ext cx="1592151" cy="1699805"/>
          </a:xfrm>
          <a:prstGeom prst="rect">
            <a:avLst/>
          </a:prstGeom>
        </p:spPr>
      </p:pic>
      <p:sp>
        <p:nvSpPr>
          <p:cNvPr id="6" name="Subtitle 2">
            <a:extLst>
              <a:ext uri="{FF2B5EF4-FFF2-40B4-BE49-F238E27FC236}">
                <a16:creationId xmlns:a16="http://schemas.microsoft.com/office/drawing/2014/main" id="{46DECBE9-59FA-48C8-BE8F-B680FC18F0AE}"/>
              </a:ext>
            </a:extLst>
          </p:cNvPr>
          <p:cNvSpPr txBox="1">
            <a:spLocks/>
          </p:cNvSpPr>
          <p:nvPr/>
        </p:nvSpPr>
        <p:spPr>
          <a:xfrm>
            <a:off x="1181100" y="2936173"/>
            <a:ext cx="9448800" cy="190816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40812360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4391-CC5E-42CF-ADA3-195FAF47FA6F}"/>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1917D98E-2F9A-4D16-B8FE-B3A2DD8B4C5B}"/>
              </a:ext>
            </a:extLst>
          </p:cNvPr>
          <p:cNvSpPr>
            <a:spLocks noGrp="1"/>
          </p:cNvSpPr>
          <p:nvPr>
            <p:ph idx="1"/>
          </p:nvPr>
        </p:nvSpPr>
        <p:spPr>
          <a:xfrm>
            <a:off x="2589212" y="2149642"/>
            <a:ext cx="8915400" cy="3777622"/>
          </a:xfrm>
        </p:spPr>
        <p:txBody>
          <a:bodyPr/>
          <a:lstStyle/>
          <a:p>
            <a:pPr>
              <a:buFont typeface="Wingdings" panose="05000000000000000000" pitchFamily="2" charset="2"/>
              <a:buChar char="Ø"/>
            </a:pPr>
            <a:r>
              <a:rPr lang="en-US" dirty="0"/>
              <a:t>The Blockchain-Based E-Voting System is being developed to provide a secure, transparent, and decentralized voting platform using blockchain technology. The implementation focuses on replacing traditional centralized voting mechanisms with smart contract-based automation to ensure vote integrity, prevent tampering, and improve public trust in elections.</a:t>
            </a:r>
          </a:p>
          <a:p>
            <a:pPr>
              <a:buFont typeface="Wingdings" panose="05000000000000000000" pitchFamily="2" charset="2"/>
              <a:buChar char="Ø"/>
            </a:pPr>
            <a:r>
              <a:rPr lang="en-US" dirty="0"/>
              <a:t>The current development stage includes smart contract creation, blockchain deployment, frontend integration, wallet authentication, vote handling, and system testing.</a:t>
            </a:r>
          </a:p>
        </p:txBody>
      </p:sp>
    </p:spTree>
    <p:extLst>
      <p:ext uri="{BB962C8B-B14F-4D97-AF65-F5344CB8AC3E}">
        <p14:creationId xmlns:p14="http://schemas.microsoft.com/office/powerpoint/2010/main" val="21071202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1C0C7-23FA-4258-A305-84EFF36943CD}"/>
              </a:ext>
            </a:extLst>
          </p:cNvPr>
          <p:cNvSpPr>
            <a:spLocks noGrp="1"/>
          </p:cNvSpPr>
          <p:nvPr>
            <p:ph type="title"/>
          </p:nvPr>
        </p:nvSpPr>
        <p:spPr/>
        <p:txBody>
          <a:bodyPr/>
          <a:lstStyle/>
          <a:p>
            <a:r>
              <a:rPr lang="en-IN" dirty="0"/>
              <a:t>System Architecture</a:t>
            </a:r>
          </a:p>
        </p:txBody>
      </p:sp>
      <p:pic>
        <p:nvPicPr>
          <p:cNvPr id="5" name="Content Placeholder 4">
            <a:extLst>
              <a:ext uri="{FF2B5EF4-FFF2-40B4-BE49-F238E27FC236}">
                <a16:creationId xmlns:a16="http://schemas.microsoft.com/office/drawing/2014/main" id="{399470CF-2F18-458C-8122-DAD98BC33E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1637687"/>
            <a:ext cx="6972300" cy="4826515"/>
          </a:xfrm>
        </p:spPr>
      </p:pic>
    </p:spTree>
    <p:extLst>
      <p:ext uri="{BB962C8B-B14F-4D97-AF65-F5344CB8AC3E}">
        <p14:creationId xmlns:p14="http://schemas.microsoft.com/office/powerpoint/2010/main" val="42104085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FB06-980C-4643-B885-F6E907CDC33D}"/>
              </a:ext>
            </a:extLst>
          </p:cNvPr>
          <p:cNvSpPr>
            <a:spLocks noGrp="1"/>
          </p:cNvSpPr>
          <p:nvPr>
            <p:ph type="title"/>
          </p:nvPr>
        </p:nvSpPr>
        <p:spPr/>
        <p:txBody>
          <a:bodyPr/>
          <a:lstStyle/>
          <a:p>
            <a:r>
              <a:rPr lang="en-IN" dirty="0"/>
              <a:t>Architectural Layers</a:t>
            </a:r>
          </a:p>
        </p:txBody>
      </p:sp>
      <p:sp>
        <p:nvSpPr>
          <p:cNvPr id="3" name="Content Placeholder 2">
            <a:extLst>
              <a:ext uri="{FF2B5EF4-FFF2-40B4-BE49-F238E27FC236}">
                <a16:creationId xmlns:a16="http://schemas.microsoft.com/office/drawing/2014/main" id="{FA99ACA6-C2D3-4855-BD74-A31DD28645BD}"/>
              </a:ext>
            </a:extLst>
          </p:cNvPr>
          <p:cNvSpPr>
            <a:spLocks noGrp="1"/>
          </p:cNvSpPr>
          <p:nvPr>
            <p:ph idx="1"/>
          </p:nvPr>
        </p:nvSpPr>
        <p:spPr/>
        <p:txBody>
          <a:bodyPr/>
          <a:lstStyle/>
          <a:p>
            <a:pPr>
              <a:buFont typeface="Wingdings" panose="05000000000000000000" pitchFamily="2" charset="2"/>
              <a:buChar char="Ø"/>
            </a:pPr>
            <a:r>
              <a:rPr lang="en-IN" dirty="0"/>
              <a:t>Presentation Layer </a:t>
            </a:r>
            <a:r>
              <a:rPr lang="en-IN" b="1" dirty="0"/>
              <a:t>: </a:t>
            </a:r>
            <a:r>
              <a:rPr lang="en-IN" dirty="0"/>
              <a:t>React frontend for user interaction.</a:t>
            </a:r>
          </a:p>
          <a:p>
            <a:pPr>
              <a:buFont typeface="Wingdings" panose="05000000000000000000" pitchFamily="2" charset="2"/>
              <a:buChar char="Ø"/>
            </a:pPr>
            <a:r>
              <a:rPr lang="en-IN" dirty="0"/>
              <a:t>Application Layer </a:t>
            </a:r>
            <a:r>
              <a:rPr lang="en-IN" b="1" dirty="0"/>
              <a:t>: </a:t>
            </a:r>
            <a:r>
              <a:rPr lang="en-IN" dirty="0"/>
              <a:t>Voting logic.</a:t>
            </a:r>
          </a:p>
          <a:p>
            <a:pPr>
              <a:buFont typeface="Wingdings" panose="05000000000000000000" pitchFamily="2" charset="2"/>
              <a:buChar char="Ø"/>
            </a:pPr>
            <a:r>
              <a:rPr lang="en-IN" dirty="0"/>
              <a:t>Smart Contract Layer </a:t>
            </a:r>
            <a:r>
              <a:rPr lang="en-IN" b="1" dirty="0"/>
              <a:t>: </a:t>
            </a:r>
            <a:r>
              <a:rPr lang="en-IN" dirty="0"/>
              <a:t>Solidity logic on Ethereum </a:t>
            </a:r>
            <a:r>
              <a:rPr lang="en-IN" dirty="0" err="1"/>
              <a:t>Sepolia</a:t>
            </a:r>
            <a:r>
              <a:rPr lang="en-IN" dirty="0"/>
              <a:t>.</a:t>
            </a:r>
          </a:p>
          <a:p>
            <a:pPr>
              <a:buFont typeface="Wingdings" panose="05000000000000000000" pitchFamily="2" charset="2"/>
              <a:buChar char="Ø"/>
            </a:pPr>
            <a:r>
              <a:rPr lang="en-IN" dirty="0"/>
              <a:t>Blockchain Layer </a:t>
            </a:r>
            <a:r>
              <a:rPr lang="en-IN" b="1" dirty="0"/>
              <a:t>: </a:t>
            </a:r>
            <a:r>
              <a:rPr lang="en-IN" dirty="0"/>
              <a:t>Ethereum network.</a:t>
            </a:r>
          </a:p>
        </p:txBody>
      </p:sp>
    </p:spTree>
    <p:extLst>
      <p:ext uri="{BB962C8B-B14F-4D97-AF65-F5344CB8AC3E}">
        <p14:creationId xmlns:p14="http://schemas.microsoft.com/office/powerpoint/2010/main" val="3638548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9AE05-B4C3-480C-B6D7-481589FCE6C8}"/>
              </a:ext>
            </a:extLst>
          </p:cNvPr>
          <p:cNvSpPr>
            <a:spLocks noGrp="1"/>
          </p:cNvSpPr>
          <p:nvPr>
            <p:ph type="title"/>
          </p:nvPr>
        </p:nvSpPr>
        <p:spPr>
          <a:xfrm>
            <a:off x="2592925" y="624110"/>
            <a:ext cx="8911687" cy="1280890"/>
          </a:xfrm>
        </p:spPr>
        <p:txBody>
          <a:bodyPr/>
          <a:lstStyle/>
          <a:p>
            <a:r>
              <a:rPr lang="en-IN" dirty="0"/>
              <a:t>Development and Implementation Tools Used</a:t>
            </a:r>
          </a:p>
        </p:txBody>
      </p:sp>
      <p:sp>
        <p:nvSpPr>
          <p:cNvPr id="4" name="Rectangle 1">
            <a:extLst>
              <a:ext uri="{FF2B5EF4-FFF2-40B4-BE49-F238E27FC236}">
                <a16:creationId xmlns:a16="http://schemas.microsoft.com/office/drawing/2014/main" id="{2C9BFD1E-1F79-4929-84FF-FC537296E8C2}"/>
              </a:ext>
            </a:extLst>
          </p:cNvPr>
          <p:cNvSpPr>
            <a:spLocks noGrp="1" noChangeArrowheads="1"/>
          </p:cNvSpPr>
          <p:nvPr>
            <p:ph idx="1"/>
          </p:nvPr>
        </p:nvSpPr>
        <p:spPr bwMode="auto">
          <a:xfrm>
            <a:off x="2592388" y="1858053"/>
            <a:ext cx="7631112" cy="406265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altLang="en-US" sz="1600" b="1" dirty="0"/>
              <a:t>VS Code</a:t>
            </a:r>
            <a:r>
              <a:rPr lang="en-US" altLang="en-US" sz="1600" dirty="0"/>
              <a:t> - </a:t>
            </a:r>
            <a:r>
              <a:rPr lang="en-US" sz="1600" dirty="0"/>
              <a:t>Used as the primary code editor for developing frontend, smart contracts, and blockchain integration modules.</a:t>
            </a:r>
          </a:p>
          <a:p>
            <a:pPr>
              <a:buFont typeface="Wingdings" panose="05000000000000000000" pitchFamily="2" charset="2"/>
              <a:buChar char="Ø"/>
            </a:pPr>
            <a:r>
              <a:rPr lang="en-IN" sz="1600" b="1" dirty="0"/>
              <a:t>Node.js</a:t>
            </a:r>
            <a:r>
              <a:rPr lang="en-IN" sz="1600" dirty="0"/>
              <a:t> - </a:t>
            </a:r>
            <a:r>
              <a:rPr lang="en-US" sz="1600" dirty="0"/>
              <a:t>Used to run JavaScript-based development tools and manage the blockchain application environment.</a:t>
            </a:r>
          </a:p>
          <a:p>
            <a:pPr>
              <a:buFont typeface="Wingdings" panose="05000000000000000000" pitchFamily="2" charset="2"/>
              <a:buChar char="Ø"/>
            </a:pPr>
            <a:r>
              <a:rPr lang="en-IN" sz="1600" b="1" dirty="0" err="1"/>
              <a:t>Npm</a:t>
            </a:r>
            <a:r>
              <a:rPr lang="en-IN" sz="1600" b="1" dirty="0"/>
              <a:t> </a:t>
            </a:r>
            <a:r>
              <a:rPr lang="en-IN" sz="1600" dirty="0"/>
              <a:t>- </a:t>
            </a:r>
            <a:r>
              <a:rPr lang="en-US" sz="1600" dirty="0"/>
              <a:t>Used for installing and managing project dependencies, libraries, and blockchain development packages.</a:t>
            </a:r>
            <a:endParaRPr lang="en-IN" sz="1600" dirty="0"/>
          </a:p>
          <a:p>
            <a:pPr>
              <a:buFont typeface="Wingdings" panose="05000000000000000000" pitchFamily="2" charset="2"/>
              <a:buChar char="Ø"/>
            </a:pPr>
            <a:r>
              <a:rPr lang="en-IN" sz="1600" b="1" dirty="0" err="1"/>
              <a:t>Github</a:t>
            </a:r>
            <a:r>
              <a:rPr lang="en-IN" sz="1600" b="1" dirty="0"/>
              <a:t> - </a:t>
            </a:r>
            <a:r>
              <a:rPr lang="en-US" sz="1600" dirty="0"/>
              <a:t>Used for storing, managing, and maintaining the project repository online.</a:t>
            </a:r>
            <a:endParaRPr lang="en-IN" sz="1600" b="1" dirty="0"/>
          </a:p>
          <a:p>
            <a:pPr>
              <a:buFont typeface="Wingdings" panose="05000000000000000000" pitchFamily="2" charset="2"/>
              <a:buChar char="Ø"/>
            </a:pPr>
            <a:r>
              <a:rPr lang="en-IN" sz="1600" b="1" dirty="0"/>
              <a:t>Git </a:t>
            </a:r>
            <a:r>
              <a:rPr lang="en-IN" sz="1600" dirty="0"/>
              <a:t>– </a:t>
            </a:r>
            <a:r>
              <a:rPr lang="en-US" sz="1600" dirty="0"/>
              <a:t>Used for version control and tracking project source code changes during development.</a:t>
            </a:r>
          </a:p>
          <a:p>
            <a:pPr>
              <a:buFont typeface="Wingdings" panose="05000000000000000000" pitchFamily="2" charset="2"/>
              <a:buChar char="Ø"/>
            </a:pPr>
            <a:r>
              <a:rPr lang="en-IN" sz="1600" b="1" dirty="0"/>
              <a:t>Chrome </a:t>
            </a:r>
            <a:r>
              <a:rPr lang="en-IN" sz="1600" dirty="0"/>
              <a:t>- </a:t>
            </a:r>
            <a:r>
              <a:rPr lang="en-US" sz="1600" dirty="0"/>
              <a:t>Used for testing the frontend application, </a:t>
            </a:r>
            <a:r>
              <a:rPr lang="en-US" sz="1600" dirty="0" err="1"/>
              <a:t>MetaMask</a:t>
            </a:r>
            <a:r>
              <a:rPr lang="en-US" sz="1600" dirty="0"/>
              <a:t> integration, and blockchain transactions.</a:t>
            </a:r>
          </a:p>
          <a:p>
            <a:pPr>
              <a:buFont typeface="Wingdings" panose="05000000000000000000" pitchFamily="2" charset="2"/>
              <a:buChar char="Ø"/>
            </a:pPr>
            <a:endParaRPr lang="en-IN" sz="1600" dirty="0"/>
          </a:p>
        </p:txBody>
      </p:sp>
    </p:spTree>
    <p:extLst>
      <p:ext uri="{BB962C8B-B14F-4D97-AF65-F5344CB8AC3E}">
        <p14:creationId xmlns:p14="http://schemas.microsoft.com/office/powerpoint/2010/main" val="27165305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F4D9A3B7-0368-462F-AD1F-A1EBB171058B}"/>
              </a:ext>
            </a:extLst>
          </p:cNvPr>
          <p:cNvSpPr>
            <a:spLocks noGrp="1"/>
          </p:cNvSpPr>
          <p:nvPr>
            <p:ph type="title"/>
          </p:nvPr>
        </p:nvSpPr>
        <p:spPr/>
        <p:txBody>
          <a:bodyPr/>
          <a:lstStyle/>
          <a:p>
            <a:r>
              <a:rPr lang="en-IN" dirty="0"/>
              <a:t>MetaMask Setup</a:t>
            </a:r>
          </a:p>
        </p:txBody>
      </p:sp>
      <p:pic>
        <p:nvPicPr>
          <p:cNvPr id="5" name="Content Placeholder 4">
            <a:extLst>
              <a:ext uri="{FF2B5EF4-FFF2-40B4-BE49-F238E27FC236}">
                <a16:creationId xmlns:a16="http://schemas.microsoft.com/office/drawing/2014/main" id="{E8ABE3EC-0C28-4F8C-B3D7-DDE3B2205C65}"/>
              </a:ext>
            </a:extLst>
          </p:cNvPr>
          <p:cNvPicPr>
            <a:picLocks noGrp="1" noChangeAspect="1"/>
          </p:cNvPicPr>
          <p:nvPr>
            <p:ph idx="1"/>
          </p:nvPr>
        </p:nvPicPr>
        <p:blipFill>
          <a:blip r:embed="rId2"/>
          <a:stretch>
            <a:fillRect/>
          </a:stretch>
        </p:blipFill>
        <p:spPr>
          <a:xfrm>
            <a:off x="2503488" y="2811409"/>
            <a:ext cx="8915400" cy="2232132"/>
          </a:xfrm>
        </p:spPr>
      </p:pic>
    </p:spTree>
    <p:extLst>
      <p:ext uri="{BB962C8B-B14F-4D97-AF65-F5344CB8AC3E}">
        <p14:creationId xmlns:p14="http://schemas.microsoft.com/office/powerpoint/2010/main" val="33970906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21B7EA-49A0-4A2A-8E9B-DB7B0C651C39}"/>
              </a:ext>
            </a:extLst>
          </p:cNvPr>
          <p:cNvPicPr>
            <a:picLocks noChangeAspect="1"/>
          </p:cNvPicPr>
          <p:nvPr/>
        </p:nvPicPr>
        <p:blipFill>
          <a:blip r:embed="rId2"/>
          <a:stretch>
            <a:fillRect/>
          </a:stretch>
        </p:blipFill>
        <p:spPr>
          <a:xfrm>
            <a:off x="7983147" y="552450"/>
            <a:ext cx="4208853" cy="6163546"/>
          </a:xfrm>
          <a:prstGeom prst="rect">
            <a:avLst/>
          </a:prstGeom>
        </p:spPr>
      </p:pic>
      <p:pic>
        <p:nvPicPr>
          <p:cNvPr id="5" name="Picture 4">
            <a:extLst>
              <a:ext uri="{FF2B5EF4-FFF2-40B4-BE49-F238E27FC236}">
                <a16:creationId xmlns:a16="http://schemas.microsoft.com/office/drawing/2014/main" id="{46061E20-031A-45E0-912B-1205592FD770}"/>
              </a:ext>
            </a:extLst>
          </p:cNvPr>
          <p:cNvPicPr>
            <a:picLocks noChangeAspect="1"/>
          </p:cNvPicPr>
          <p:nvPr/>
        </p:nvPicPr>
        <p:blipFill>
          <a:blip r:embed="rId3"/>
          <a:stretch>
            <a:fillRect/>
          </a:stretch>
        </p:blipFill>
        <p:spPr>
          <a:xfrm>
            <a:off x="3505772" y="476250"/>
            <a:ext cx="4477375" cy="6239746"/>
          </a:xfrm>
          <a:prstGeom prst="rect">
            <a:avLst/>
          </a:prstGeom>
        </p:spPr>
      </p:pic>
      <p:pic>
        <p:nvPicPr>
          <p:cNvPr id="6" name="Picture 5">
            <a:extLst>
              <a:ext uri="{FF2B5EF4-FFF2-40B4-BE49-F238E27FC236}">
                <a16:creationId xmlns:a16="http://schemas.microsoft.com/office/drawing/2014/main" id="{B9CB145C-2E40-4012-9D55-4306BFA97DA5}"/>
              </a:ext>
            </a:extLst>
          </p:cNvPr>
          <p:cNvPicPr>
            <a:picLocks noChangeAspect="1"/>
          </p:cNvPicPr>
          <p:nvPr/>
        </p:nvPicPr>
        <p:blipFill>
          <a:blip r:embed="rId4"/>
          <a:stretch>
            <a:fillRect/>
          </a:stretch>
        </p:blipFill>
        <p:spPr>
          <a:xfrm>
            <a:off x="0" y="619125"/>
            <a:ext cx="3600450" cy="6096871"/>
          </a:xfrm>
          <a:prstGeom prst="rect">
            <a:avLst/>
          </a:prstGeom>
        </p:spPr>
      </p:pic>
    </p:spTree>
    <p:extLst>
      <p:ext uri="{BB962C8B-B14F-4D97-AF65-F5344CB8AC3E}">
        <p14:creationId xmlns:p14="http://schemas.microsoft.com/office/powerpoint/2010/main" val="38618046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AED2FC-B62F-4739-B374-A43118EC2817}"/>
              </a:ext>
            </a:extLst>
          </p:cNvPr>
          <p:cNvPicPr>
            <a:picLocks noChangeAspect="1"/>
          </p:cNvPicPr>
          <p:nvPr/>
        </p:nvPicPr>
        <p:blipFill>
          <a:blip r:embed="rId2"/>
          <a:stretch>
            <a:fillRect/>
          </a:stretch>
        </p:blipFill>
        <p:spPr>
          <a:xfrm>
            <a:off x="8199301" y="0"/>
            <a:ext cx="4141267" cy="6858000"/>
          </a:xfrm>
          <a:prstGeom prst="rect">
            <a:avLst/>
          </a:prstGeom>
        </p:spPr>
      </p:pic>
      <p:pic>
        <p:nvPicPr>
          <p:cNvPr id="6" name="Picture 5">
            <a:extLst>
              <a:ext uri="{FF2B5EF4-FFF2-40B4-BE49-F238E27FC236}">
                <a16:creationId xmlns:a16="http://schemas.microsoft.com/office/drawing/2014/main" id="{54CF1A0E-8FD4-4D5C-B500-7385FC199153}"/>
              </a:ext>
            </a:extLst>
          </p:cNvPr>
          <p:cNvPicPr>
            <a:picLocks noChangeAspect="1"/>
          </p:cNvPicPr>
          <p:nvPr/>
        </p:nvPicPr>
        <p:blipFill>
          <a:blip r:embed="rId3"/>
          <a:stretch>
            <a:fillRect/>
          </a:stretch>
        </p:blipFill>
        <p:spPr>
          <a:xfrm>
            <a:off x="4141268" y="0"/>
            <a:ext cx="4193627" cy="6858000"/>
          </a:xfrm>
          <a:prstGeom prst="rect">
            <a:avLst/>
          </a:prstGeom>
        </p:spPr>
      </p:pic>
      <p:pic>
        <p:nvPicPr>
          <p:cNvPr id="7" name="Picture 6">
            <a:extLst>
              <a:ext uri="{FF2B5EF4-FFF2-40B4-BE49-F238E27FC236}">
                <a16:creationId xmlns:a16="http://schemas.microsoft.com/office/drawing/2014/main" id="{C516E63D-1DB9-49FB-8B8C-672DB5EBAFAA}"/>
              </a:ext>
            </a:extLst>
          </p:cNvPr>
          <p:cNvPicPr>
            <a:picLocks noChangeAspect="1"/>
          </p:cNvPicPr>
          <p:nvPr/>
        </p:nvPicPr>
        <p:blipFill>
          <a:blip r:embed="rId4"/>
          <a:stretch>
            <a:fillRect/>
          </a:stretch>
        </p:blipFill>
        <p:spPr>
          <a:xfrm>
            <a:off x="83235" y="0"/>
            <a:ext cx="4058033" cy="6858000"/>
          </a:xfrm>
          <a:prstGeom prst="rect">
            <a:avLst/>
          </a:prstGeom>
        </p:spPr>
      </p:pic>
    </p:spTree>
    <p:extLst>
      <p:ext uri="{BB962C8B-B14F-4D97-AF65-F5344CB8AC3E}">
        <p14:creationId xmlns:p14="http://schemas.microsoft.com/office/powerpoint/2010/main" val="34126142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B16F41-980E-40EC-982B-F438EA0656AC}"/>
              </a:ext>
            </a:extLst>
          </p:cNvPr>
          <p:cNvPicPr>
            <a:picLocks noGrp="1" noChangeAspect="1"/>
          </p:cNvPicPr>
          <p:nvPr>
            <p:ph idx="1"/>
          </p:nvPr>
        </p:nvPicPr>
        <p:blipFill>
          <a:blip r:embed="rId2"/>
          <a:stretch>
            <a:fillRect/>
          </a:stretch>
        </p:blipFill>
        <p:spPr>
          <a:xfrm>
            <a:off x="1377285" y="304800"/>
            <a:ext cx="10677585" cy="6096000"/>
          </a:xfrm>
        </p:spPr>
      </p:pic>
    </p:spTree>
    <p:extLst>
      <p:ext uri="{BB962C8B-B14F-4D97-AF65-F5344CB8AC3E}">
        <p14:creationId xmlns:p14="http://schemas.microsoft.com/office/powerpoint/2010/main" val="15810734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12F22B-F31B-4F3C-8083-237A47C3F161}"/>
              </a:ext>
            </a:extLst>
          </p:cNvPr>
          <p:cNvPicPr>
            <a:picLocks noGrp="1" noChangeAspect="1"/>
          </p:cNvPicPr>
          <p:nvPr>
            <p:ph idx="1"/>
          </p:nvPr>
        </p:nvPicPr>
        <p:blipFill>
          <a:blip r:embed="rId2"/>
          <a:stretch>
            <a:fillRect/>
          </a:stretch>
        </p:blipFill>
        <p:spPr>
          <a:xfrm>
            <a:off x="1260143" y="352425"/>
            <a:ext cx="10316658" cy="6153150"/>
          </a:xfrm>
        </p:spPr>
      </p:pic>
    </p:spTree>
    <p:extLst>
      <p:ext uri="{BB962C8B-B14F-4D97-AF65-F5344CB8AC3E}">
        <p14:creationId xmlns:p14="http://schemas.microsoft.com/office/powerpoint/2010/main" val="27822529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6614D-0EFA-4EB1-94BD-ABF0321F9081}"/>
              </a:ext>
            </a:extLst>
          </p:cNvPr>
          <p:cNvSpPr>
            <a:spLocks noGrp="1"/>
          </p:cNvSpPr>
          <p:nvPr>
            <p:ph type="title"/>
          </p:nvPr>
        </p:nvSpPr>
        <p:spPr/>
        <p:txBody>
          <a:bodyPr/>
          <a:lstStyle/>
          <a:p>
            <a:r>
              <a:rPr lang="en-IN" dirty="0"/>
              <a:t>Blockchain Stack</a:t>
            </a:r>
          </a:p>
        </p:txBody>
      </p:sp>
      <p:sp>
        <p:nvSpPr>
          <p:cNvPr id="3" name="Content Placeholder 2">
            <a:extLst>
              <a:ext uri="{FF2B5EF4-FFF2-40B4-BE49-F238E27FC236}">
                <a16:creationId xmlns:a16="http://schemas.microsoft.com/office/drawing/2014/main" id="{B1AEEA2B-915F-4242-877A-256C19DCDC49}"/>
              </a:ext>
            </a:extLst>
          </p:cNvPr>
          <p:cNvSpPr>
            <a:spLocks noGrp="1"/>
          </p:cNvSpPr>
          <p:nvPr>
            <p:ph idx="1"/>
          </p:nvPr>
        </p:nvSpPr>
        <p:spPr/>
        <p:txBody>
          <a:bodyPr/>
          <a:lstStyle/>
          <a:p>
            <a:pPr>
              <a:buFont typeface="Wingdings" panose="05000000000000000000" pitchFamily="2" charset="2"/>
              <a:buChar char="Ø"/>
            </a:pPr>
            <a:r>
              <a:rPr lang="en-IN" dirty="0"/>
              <a:t>Ethereum - Decentralized blockchain network</a:t>
            </a:r>
          </a:p>
          <a:p>
            <a:pPr>
              <a:buFont typeface="Wingdings" panose="05000000000000000000" pitchFamily="2" charset="2"/>
              <a:buChar char="Ø"/>
            </a:pPr>
            <a:r>
              <a:rPr lang="en-IN" dirty="0"/>
              <a:t>Solidity - Smart contract development</a:t>
            </a:r>
            <a:endParaRPr lang="en-IN" b="1" i="0" dirty="0">
              <a:solidFill>
                <a:srgbClr val="0D0D0D"/>
              </a:solidFill>
              <a:effectLst/>
              <a:latin typeface="Segoe UI Variable Text" pitchFamily="2" charset="0"/>
            </a:endParaRPr>
          </a:p>
          <a:p>
            <a:pPr>
              <a:buFont typeface="Wingdings" panose="05000000000000000000" pitchFamily="2" charset="2"/>
              <a:buChar char="Ø"/>
            </a:pPr>
            <a:r>
              <a:rPr lang="en-IN" dirty="0"/>
              <a:t>Smart Contracts - </a:t>
            </a:r>
            <a:r>
              <a:rPr lang="en-US" dirty="0"/>
              <a:t>Automated voting logic and election management</a:t>
            </a:r>
            <a:endParaRPr lang="en-IN" dirty="0"/>
          </a:p>
          <a:p>
            <a:pPr>
              <a:buFont typeface="Wingdings" panose="05000000000000000000" pitchFamily="2" charset="2"/>
              <a:buChar char="Ø"/>
            </a:pPr>
            <a:r>
              <a:rPr lang="en-IN" dirty="0"/>
              <a:t>MetaMask - </a:t>
            </a:r>
            <a:r>
              <a:rPr lang="en-US" dirty="0"/>
              <a:t>Wallet authentication and transaction signing</a:t>
            </a:r>
            <a:endParaRPr lang="en-IN" dirty="0"/>
          </a:p>
          <a:p>
            <a:pPr>
              <a:buFont typeface="Wingdings" panose="05000000000000000000" pitchFamily="2" charset="2"/>
              <a:buChar char="Ø"/>
            </a:pPr>
            <a:r>
              <a:rPr lang="en-IN" dirty="0"/>
              <a:t>Ethers.js - Frontend and blockchain interaction</a:t>
            </a:r>
          </a:p>
          <a:p>
            <a:pPr marL="0" indent="0">
              <a:buNone/>
            </a:pPr>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0290223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B5DB-A3EE-42E4-A7A6-1D4B27838957}"/>
              </a:ext>
            </a:extLst>
          </p:cNvPr>
          <p:cNvSpPr>
            <a:spLocks noGrp="1"/>
          </p:cNvSpPr>
          <p:nvPr>
            <p:ph type="title"/>
          </p:nvPr>
        </p:nvSpPr>
        <p:spPr/>
        <p:txBody>
          <a:bodyPr/>
          <a:lstStyle/>
          <a:p>
            <a:r>
              <a:rPr lang="en-IN" dirty="0"/>
              <a:t>Blockchain Development Environment</a:t>
            </a:r>
          </a:p>
        </p:txBody>
      </p:sp>
      <p:sp>
        <p:nvSpPr>
          <p:cNvPr id="6" name="Content Placeholder 5">
            <a:extLst>
              <a:ext uri="{FF2B5EF4-FFF2-40B4-BE49-F238E27FC236}">
                <a16:creationId xmlns:a16="http://schemas.microsoft.com/office/drawing/2014/main" id="{472F8407-62FA-4B5A-81AA-81F31372FDE8}"/>
              </a:ext>
            </a:extLst>
          </p:cNvPr>
          <p:cNvSpPr>
            <a:spLocks noGrp="1"/>
          </p:cNvSpPr>
          <p:nvPr>
            <p:ph idx="1"/>
          </p:nvPr>
        </p:nvSpPr>
        <p:spPr/>
        <p:txBody>
          <a:bodyPr/>
          <a:lstStyle/>
          <a:p>
            <a:pPr>
              <a:buFont typeface="Wingdings" panose="05000000000000000000" pitchFamily="2" charset="2"/>
              <a:buChar char="Ø"/>
            </a:pPr>
            <a:r>
              <a:rPr lang="en-IN" dirty="0"/>
              <a:t>Hardhat - </a:t>
            </a:r>
            <a:r>
              <a:rPr lang="en-US" dirty="0"/>
              <a:t>Smart contract compilation and deployment</a:t>
            </a:r>
          </a:p>
          <a:p>
            <a:pPr>
              <a:buFont typeface="Wingdings" panose="05000000000000000000" pitchFamily="2" charset="2"/>
              <a:buChar char="Ø"/>
            </a:pPr>
            <a:r>
              <a:rPr lang="en-IN" dirty="0"/>
              <a:t>Ethereum </a:t>
            </a:r>
            <a:r>
              <a:rPr lang="en-IN" dirty="0" err="1"/>
              <a:t>Sepolia</a:t>
            </a:r>
            <a:r>
              <a:rPr lang="en-IN" dirty="0"/>
              <a:t> - Public blockchain </a:t>
            </a:r>
            <a:r>
              <a:rPr lang="en-IN" dirty="0" err="1"/>
              <a:t>testnet</a:t>
            </a:r>
            <a:r>
              <a:rPr lang="en-IN" dirty="0"/>
              <a:t> deployment</a:t>
            </a:r>
          </a:p>
          <a:p>
            <a:pPr>
              <a:buFont typeface="Wingdings" panose="05000000000000000000" pitchFamily="2" charset="2"/>
              <a:buChar char="Ø"/>
            </a:pPr>
            <a:r>
              <a:rPr lang="en-IN" dirty="0"/>
              <a:t>Node.js - Running blockchain development tools</a:t>
            </a:r>
          </a:p>
          <a:p>
            <a:pPr>
              <a:buFont typeface="Wingdings" panose="05000000000000000000" pitchFamily="2" charset="2"/>
              <a:buChar char="Ø"/>
            </a:pPr>
            <a:r>
              <a:rPr lang="en-IN" dirty="0" err="1"/>
              <a:t>Npm</a:t>
            </a:r>
            <a:r>
              <a:rPr lang="en-IN" dirty="0"/>
              <a:t> - Dependency and package management</a:t>
            </a:r>
          </a:p>
          <a:p>
            <a:endParaRPr lang="en-IN" dirty="0"/>
          </a:p>
          <a:p>
            <a:endParaRPr lang="en-IN" dirty="0"/>
          </a:p>
          <a:p>
            <a:endParaRPr lang="en-IN" dirty="0"/>
          </a:p>
          <a:p>
            <a:endParaRPr lang="en-US" dirty="0"/>
          </a:p>
          <a:p>
            <a:endParaRPr lang="en-IN" dirty="0"/>
          </a:p>
        </p:txBody>
      </p:sp>
    </p:spTree>
    <p:extLst>
      <p:ext uri="{BB962C8B-B14F-4D97-AF65-F5344CB8AC3E}">
        <p14:creationId xmlns:p14="http://schemas.microsoft.com/office/powerpoint/2010/main" val="13710694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B541-33AF-4668-9956-BBE58075D263}"/>
              </a:ext>
            </a:extLst>
          </p:cNvPr>
          <p:cNvSpPr>
            <a:spLocks noGrp="1"/>
          </p:cNvSpPr>
          <p:nvPr>
            <p:ph type="title"/>
          </p:nvPr>
        </p:nvSpPr>
        <p:spPr/>
        <p:txBody>
          <a:bodyPr/>
          <a:lstStyle/>
          <a:p>
            <a:r>
              <a:rPr lang="en-IN" dirty="0"/>
              <a:t>Smart Contract Development</a:t>
            </a:r>
          </a:p>
        </p:txBody>
      </p:sp>
      <p:sp>
        <p:nvSpPr>
          <p:cNvPr id="3" name="Content Placeholder 2">
            <a:extLst>
              <a:ext uri="{FF2B5EF4-FFF2-40B4-BE49-F238E27FC236}">
                <a16:creationId xmlns:a16="http://schemas.microsoft.com/office/drawing/2014/main" id="{330A672E-37A7-456C-8A2A-ED7843779EEF}"/>
              </a:ext>
            </a:extLst>
          </p:cNvPr>
          <p:cNvSpPr>
            <a:spLocks noGrp="1"/>
          </p:cNvSpPr>
          <p:nvPr>
            <p:ph idx="1"/>
          </p:nvPr>
        </p:nvSpPr>
        <p:spPr>
          <a:xfrm>
            <a:off x="2141537" y="2152650"/>
            <a:ext cx="8915400" cy="3777622"/>
          </a:xfrm>
        </p:spPr>
        <p:txBody>
          <a:bodyPr>
            <a:normAutofit/>
          </a:bodyPr>
          <a:lstStyle/>
          <a:p>
            <a:pPr lvl="1">
              <a:buFont typeface="Wingdings" panose="05000000000000000000" pitchFamily="2" charset="2"/>
              <a:buChar char="Ø"/>
            </a:pPr>
            <a:r>
              <a:rPr lang="en-IN" b="1" dirty="0"/>
              <a:t>Candidate Structure </a:t>
            </a:r>
            <a:r>
              <a:rPr lang="en-IN" dirty="0"/>
              <a:t>- </a:t>
            </a:r>
            <a:r>
              <a:rPr lang="en-US" dirty="0"/>
              <a:t>Implemented candidate data structure containing candidate ID, name, and vote count.</a:t>
            </a:r>
            <a:endParaRPr lang="en-IN" dirty="0"/>
          </a:p>
          <a:p>
            <a:pPr lvl="1">
              <a:buFont typeface="Wingdings" panose="05000000000000000000" pitchFamily="2" charset="2"/>
              <a:buChar char="Ø"/>
            </a:pPr>
            <a:r>
              <a:rPr lang="en-IN" b="1" dirty="0"/>
              <a:t>Voting Function </a:t>
            </a:r>
            <a:r>
              <a:rPr lang="en-IN" dirty="0"/>
              <a:t>- </a:t>
            </a:r>
            <a:r>
              <a:rPr lang="en-US" dirty="0"/>
              <a:t>Developed smart contract voting function for secure vote casting and recording.</a:t>
            </a:r>
            <a:endParaRPr lang="en-IN" dirty="0"/>
          </a:p>
          <a:p>
            <a:pPr lvl="1">
              <a:buFont typeface="Wingdings" panose="05000000000000000000" pitchFamily="2" charset="2"/>
              <a:buChar char="Ø"/>
            </a:pPr>
            <a:r>
              <a:rPr lang="en-IN" b="1" dirty="0"/>
              <a:t>Duplicate Vote Prevention </a:t>
            </a:r>
            <a:r>
              <a:rPr lang="en-IN" dirty="0"/>
              <a:t>- </a:t>
            </a:r>
            <a:r>
              <a:rPr lang="en-US" dirty="0"/>
              <a:t>Implemented one-person-one-vote validation using voter address tracking.</a:t>
            </a:r>
            <a:endParaRPr lang="en-IN" dirty="0"/>
          </a:p>
          <a:p>
            <a:pPr lvl="1">
              <a:buFont typeface="Wingdings" panose="05000000000000000000" pitchFamily="2" charset="2"/>
              <a:buChar char="Ø"/>
            </a:pPr>
            <a:r>
              <a:rPr lang="en-IN" b="1" dirty="0"/>
              <a:t>Election Control </a:t>
            </a:r>
            <a:r>
              <a:rPr lang="en-IN" dirty="0"/>
              <a:t>- </a:t>
            </a:r>
            <a:r>
              <a:rPr lang="en-US" dirty="0"/>
              <a:t>Added election start and end control functions managed by the administrator.</a:t>
            </a:r>
          </a:p>
        </p:txBody>
      </p:sp>
    </p:spTree>
    <p:extLst>
      <p:ext uri="{BB962C8B-B14F-4D97-AF65-F5344CB8AC3E}">
        <p14:creationId xmlns:p14="http://schemas.microsoft.com/office/powerpoint/2010/main" val="29018327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8612-AF9B-460A-BCEA-0370BE97DD19}"/>
              </a:ext>
            </a:extLst>
          </p:cNvPr>
          <p:cNvSpPr>
            <a:spLocks noGrp="1"/>
          </p:cNvSpPr>
          <p:nvPr>
            <p:ph type="title"/>
          </p:nvPr>
        </p:nvSpPr>
        <p:spPr/>
        <p:txBody>
          <a:bodyPr/>
          <a:lstStyle/>
          <a:p>
            <a:r>
              <a:rPr lang="en-IN" dirty="0"/>
              <a:t>Smart Contract Deployment</a:t>
            </a:r>
          </a:p>
        </p:txBody>
      </p:sp>
      <p:sp>
        <p:nvSpPr>
          <p:cNvPr id="3" name="Content Placeholder 2">
            <a:extLst>
              <a:ext uri="{FF2B5EF4-FFF2-40B4-BE49-F238E27FC236}">
                <a16:creationId xmlns:a16="http://schemas.microsoft.com/office/drawing/2014/main" id="{82BFBA02-3752-4C43-A4E9-5A28B0E27316}"/>
              </a:ext>
            </a:extLst>
          </p:cNvPr>
          <p:cNvSpPr>
            <a:spLocks noGrp="1"/>
          </p:cNvSpPr>
          <p:nvPr>
            <p:ph idx="1"/>
          </p:nvPr>
        </p:nvSpPr>
        <p:spPr/>
        <p:txBody>
          <a:bodyPr/>
          <a:lstStyle/>
          <a:p>
            <a:pPr>
              <a:buFont typeface="Wingdings" panose="05000000000000000000" pitchFamily="2" charset="2"/>
              <a:buChar char="Ø"/>
            </a:pPr>
            <a:r>
              <a:rPr lang="en-IN" b="1" dirty="0"/>
              <a:t>Contract Compilation </a:t>
            </a:r>
            <a:r>
              <a:rPr lang="en-IN" dirty="0"/>
              <a:t>- Compiled Solidity smart contracts using Hardhat framework.</a:t>
            </a:r>
          </a:p>
          <a:p>
            <a:pPr>
              <a:buFont typeface="Wingdings" panose="05000000000000000000" pitchFamily="2" charset="2"/>
              <a:buChar char="Ø"/>
            </a:pPr>
            <a:r>
              <a:rPr lang="en-IN" b="1" dirty="0"/>
              <a:t>Deployment Process </a:t>
            </a:r>
            <a:r>
              <a:rPr lang="en-IN" dirty="0"/>
              <a:t>- Deployed smart contracts to Ethereum </a:t>
            </a:r>
            <a:r>
              <a:rPr lang="en-IN" dirty="0" err="1"/>
              <a:t>Sepolia</a:t>
            </a:r>
            <a:r>
              <a:rPr lang="en-IN" dirty="0"/>
              <a:t> test network.</a:t>
            </a:r>
          </a:p>
          <a:p>
            <a:pPr>
              <a:buFont typeface="Wingdings" panose="05000000000000000000" pitchFamily="2" charset="2"/>
              <a:buChar char="Ø"/>
            </a:pPr>
            <a:r>
              <a:rPr lang="en-IN" b="1" dirty="0"/>
              <a:t>Contract Address Generation </a:t>
            </a:r>
            <a:r>
              <a:rPr lang="en-IN" dirty="0"/>
              <a:t>- Generated unique blockchain contract address after deployment.</a:t>
            </a:r>
          </a:p>
          <a:p>
            <a:pPr>
              <a:buFont typeface="Wingdings" panose="05000000000000000000" pitchFamily="2" charset="2"/>
              <a:buChar char="Ø"/>
            </a:pPr>
            <a:r>
              <a:rPr lang="en-IN" b="1" dirty="0"/>
              <a:t>Blockchain Verification </a:t>
            </a:r>
            <a:r>
              <a:rPr lang="en-IN" dirty="0"/>
              <a:t>- Verified successful deployment and smart contract interaction on blockchain.</a:t>
            </a:r>
          </a:p>
          <a:p>
            <a:endParaRPr lang="en-IN" dirty="0"/>
          </a:p>
        </p:txBody>
      </p:sp>
    </p:spTree>
    <p:extLst>
      <p:ext uri="{BB962C8B-B14F-4D97-AF65-F5344CB8AC3E}">
        <p14:creationId xmlns:p14="http://schemas.microsoft.com/office/powerpoint/2010/main" val="40579364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FA542A-6201-470F-A41C-4F10F8DEBA1A}"/>
              </a:ext>
            </a:extLst>
          </p:cNvPr>
          <p:cNvPicPr>
            <a:picLocks noGrp="1" noChangeAspect="1"/>
          </p:cNvPicPr>
          <p:nvPr>
            <p:ph idx="1"/>
          </p:nvPr>
        </p:nvPicPr>
        <p:blipFill>
          <a:blip r:embed="rId2"/>
          <a:stretch>
            <a:fillRect/>
          </a:stretch>
        </p:blipFill>
        <p:spPr>
          <a:xfrm>
            <a:off x="4408110" y="465574"/>
            <a:ext cx="5410955" cy="1133633"/>
          </a:xfrm>
        </p:spPr>
      </p:pic>
      <p:pic>
        <p:nvPicPr>
          <p:cNvPr id="7" name="Picture 6">
            <a:extLst>
              <a:ext uri="{FF2B5EF4-FFF2-40B4-BE49-F238E27FC236}">
                <a16:creationId xmlns:a16="http://schemas.microsoft.com/office/drawing/2014/main" id="{DEA3EB43-7326-46D1-B7E4-107581580C90}"/>
              </a:ext>
            </a:extLst>
          </p:cNvPr>
          <p:cNvPicPr>
            <a:picLocks noChangeAspect="1"/>
          </p:cNvPicPr>
          <p:nvPr/>
        </p:nvPicPr>
        <p:blipFill>
          <a:blip r:embed="rId3"/>
          <a:stretch>
            <a:fillRect/>
          </a:stretch>
        </p:blipFill>
        <p:spPr>
          <a:xfrm>
            <a:off x="4408110" y="1828109"/>
            <a:ext cx="5410955" cy="4944165"/>
          </a:xfrm>
          <a:prstGeom prst="rect">
            <a:avLst/>
          </a:prstGeom>
        </p:spPr>
      </p:pic>
      <p:sp>
        <p:nvSpPr>
          <p:cNvPr id="8" name="TextBox 7">
            <a:extLst>
              <a:ext uri="{FF2B5EF4-FFF2-40B4-BE49-F238E27FC236}">
                <a16:creationId xmlns:a16="http://schemas.microsoft.com/office/drawing/2014/main" id="{DE35B4F8-D5BD-437C-A4CA-9499C3E8B5F5}"/>
              </a:ext>
            </a:extLst>
          </p:cNvPr>
          <p:cNvSpPr txBox="1"/>
          <p:nvPr/>
        </p:nvSpPr>
        <p:spPr>
          <a:xfrm>
            <a:off x="2181225" y="847725"/>
            <a:ext cx="2000250" cy="369332"/>
          </a:xfrm>
          <a:prstGeom prst="rect">
            <a:avLst/>
          </a:prstGeom>
          <a:noFill/>
        </p:spPr>
        <p:txBody>
          <a:bodyPr wrap="square" rtlCol="0">
            <a:spAutoFit/>
          </a:bodyPr>
          <a:lstStyle/>
          <a:p>
            <a:r>
              <a:rPr lang="en-IN" dirty="0"/>
              <a:t>Compilation</a:t>
            </a:r>
          </a:p>
        </p:txBody>
      </p:sp>
      <p:sp>
        <p:nvSpPr>
          <p:cNvPr id="9" name="TextBox 8">
            <a:extLst>
              <a:ext uri="{FF2B5EF4-FFF2-40B4-BE49-F238E27FC236}">
                <a16:creationId xmlns:a16="http://schemas.microsoft.com/office/drawing/2014/main" id="{296281C8-D524-47B4-B401-86192E4D707D}"/>
              </a:ext>
            </a:extLst>
          </p:cNvPr>
          <p:cNvSpPr txBox="1"/>
          <p:nvPr/>
        </p:nvSpPr>
        <p:spPr>
          <a:xfrm>
            <a:off x="2266950" y="2225159"/>
            <a:ext cx="2000250" cy="369332"/>
          </a:xfrm>
          <a:prstGeom prst="rect">
            <a:avLst/>
          </a:prstGeom>
          <a:noFill/>
        </p:spPr>
        <p:txBody>
          <a:bodyPr wrap="square" rtlCol="0">
            <a:spAutoFit/>
          </a:bodyPr>
          <a:lstStyle/>
          <a:p>
            <a:r>
              <a:rPr lang="en-IN" dirty="0"/>
              <a:t>Deploy</a:t>
            </a:r>
          </a:p>
        </p:txBody>
      </p:sp>
    </p:spTree>
    <p:extLst>
      <p:ext uri="{BB962C8B-B14F-4D97-AF65-F5344CB8AC3E}">
        <p14:creationId xmlns:p14="http://schemas.microsoft.com/office/powerpoint/2010/main" val="2807401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97A73-D1CB-447A-98FC-0AC2D72C2603}"/>
              </a:ext>
            </a:extLst>
          </p:cNvPr>
          <p:cNvSpPr>
            <a:spLocks noGrp="1"/>
          </p:cNvSpPr>
          <p:nvPr>
            <p:ph type="title"/>
          </p:nvPr>
        </p:nvSpPr>
        <p:spPr/>
        <p:txBody>
          <a:bodyPr/>
          <a:lstStyle/>
          <a:p>
            <a:r>
              <a:rPr lang="en-IN" dirty="0"/>
              <a:t>Frontend Stack</a:t>
            </a:r>
          </a:p>
        </p:txBody>
      </p:sp>
      <p:sp>
        <p:nvSpPr>
          <p:cNvPr id="3" name="Content Placeholder 2">
            <a:extLst>
              <a:ext uri="{FF2B5EF4-FFF2-40B4-BE49-F238E27FC236}">
                <a16:creationId xmlns:a16="http://schemas.microsoft.com/office/drawing/2014/main" id="{390C26D0-1B60-4213-9093-AE609A33DB1E}"/>
              </a:ext>
            </a:extLst>
          </p:cNvPr>
          <p:cNvSpPr>
            <a:spLocks noGrp="1"/>
          </p:cNvSpPr>
          <p:nvPr>
            <p:ph idx="1"/>
          </p:nvPr>
        </p:nvSpPr>
        <p:spPr/>
        <p:txBody>
          <a:bodyPr/>
          <a:lstStyle/>
          <a:p>
            <a:pPr>
              <a:buFont typeface="Wingdings" panose="05000000000000000000" pitchFamily="2" charset="2"/>
              <a:buChar char="Ø"/>
            </a:pPr>
            <a:r>
              <a:rPr lang="en-IN" b="1" dirty="0"/>
              <a:t>React - </a:t>
            </a:r>
            <a:r>
              <a:rPr lang="en-IN" dirty="0"/>
              <a:t>Frontend UI development</a:t>
            </a:r>
          </a:p>
          <a:p>
            <a:pPr>
              <a:buFont typeface="Wingdings" panose="05000000000000000000" pitchFamily="2" charset="2"/>
              <a:buChar char="Ø"/>
            </a:pPr>
            <a:r>
              <a:rPr lang="en-IN" b="1" dirty="0"/>
              <a:t>JavaScript - </a:t>
            </a:r>
            <a:r>
              <a:rPr lang="en-IN" dirty="0"/>
              <a:t>Application logic and functionality</a:t>
            </a:r>
          </a:p>
          <a:p>
            <a:pPr>
              <a:buFont typeface="Wingdings" panose="05000000000000000000" pitchFamily="2" charset="2"/>
              <a:buChar char="Ø"/>
            </a:pPr>
            <a:r>
              <a:rPr lang="en-IN" b="1" dirty="0"/>
              <a:t>HTML5 - </a:t>
            </a:r>
            <a:r>
              <a:rPr lang="en-IN" dirty="0"/>
              <a:t>Webpage structure</a:t>
            </a:r>
          </a:p>
          <a:p>
            <a:pPr>
              <a:buFont typeface="Wingdings" panose="05000000000000000000" pitchFamily="2" charset="2"/>
              <a:buChar char="Ø"/>
            </a:pPr>
            <a:r>
              <a:rPr lang="en-IN" b="1" dirty="0"/>
              <a:t>CSS3 - </a:t>
            </a:r>
            <a:r>
              <a:rPr lang="en-US" dirty="0"/>
              <a:t>UI styling and responsive design</a:t>
            </a:r>
          </a:p>
          <a:p>
            <a:pPr>
              <a:buFont typeface="Wingdings" panose="05000000000000000000" pitchFamily="2" charset="2"/>
              <a:buChar char="Ø"/>
            </a:pPr>
            <a:r>
              <a:rPr lang="en-IN" b="1" dirty="0"/>
              <a:t>Ethers.js - </a:t>
            </a:r>
            <a:r>
              <a:rPr lang="en-US" dirty="0"/>
              <a:t>Blockchain and smart contract interaction</a:t>
            </a:r>
          </a:p>
          <a:p>
            <a:pPr>
              <a:buFont typeface="Wingdings" panose="05000000000000000000" pitchFamily="2" charset="2"/>
              <a:buChar char="Ø"/>
            </a:pPr>
            <a:r>
              <a:rPr lang="en-US" b="1" dirty="0" err="1"/>
              <a:t>MetaMask</a:t>
            </a:r>
            <a:r>
              <a:rPr lang="en-US" dirty="0"/>
              <a:t> - Wallet connection and transaction signing</a:t>
            </a:r>
          </a:p>
        </p:txBody>
      </p:sp>
    </p:spTree>
    <p:extLst>
      <p:ext uri="{BB962C8B-B14F-4D97-AF65-F5344CB8AC3E}">
        <p14:creationId xmlns:p14="http://schemas.microsoft.com/office/powerpoint/2010/main" val="16416378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EC223-3856-428D-A09F-12C3CE627AE6}"/>
              </a:ext>
            </a:extLst>
          </p:cNvPr>
          <p:cNvSpPr>
            <a:spLocks noGrp="1"/>
          </p:cNvSpPr>
          <p:nvPr>
            <p:ph type="title"/>
          </p:nvPr>
        </p:nvSpPr>
        <p:spPr/>
        <p:txBody>
          <a:bodyPr/>
          <a:lstStyle/>
          <a:p>
            <a:r>
              <a:rPr lang="en-IN" dirty="0"/>
              <a:t>Frontend Development</a:t>
            </a:r>
          </a:p>
        </p:txBody>
      </p:sp>
      <p:sp>
        <p:nvSpPr>
          <p:cNvPr id="3" name="Content Placeholder 2">
            <a:extLst>
              <a:ext uri="{FF2B5EF4-FFF2-40B4-BE49-F238E27FC236}">
                <a16:creationId xmlns:a16="http://schemas.microsoft.com/office/drawing/2014/main" id="{37312CB8-8D57-4E6F-84F9-36B974E9421E}"/>
              </a:ext>
            </a:extLst>
          </p:cNvPr>
          <p:cNvSpPr>
            <a:spLocks noGrp="1"/>
          </p:cNvSpPr>
          <p:nvPr>
            <p:ph idx="1"/>
          </p:nvPr>
        </p:nvSpPr>
        <p:spPr/>
        <p:txBody>
          <a:bodyPr>
            <a:normAutofit/>
          </a:bodyPr>
          <a:lstStyle/>
          <a:p>
            <a:pPr marL="0" indent="0">
              <a:buNone/>
            </a:pPr>
            <a:r>
              <a:rPr lang="en-US" dirty="0"/>
              <a:t>Completed frontend features:</a:t>
            </a:r>
          </a:p>
          <a:p>
            <a:pPr>
              <a:buFont typeface="Arial" panose="020B0604020202020204" pitchFamily="34" charset="0"/>
              <a:buChar char="•"/>
            </a:pPr>
            <a:r>
              <a:rPr lang="en-US" b="1" dirty="0"/>
              <a:t>Homepage UI </a:t>
            </a:r>
            <a:r>
              <a:rPr lang="en-US" dirty="0"/>
              <a:t>- Developed the main landing page for the e-voting system. </a:t>
            </a:r>
          </a:p>
          <a:p>
            <a:pPr>
              <a:buFont typeface="Arial" panose="020B0604020202020204" pitchFamily="34" charset="0"/>
              <a:buChar char="•"/>
            </a:pPr>
            <a:r>
              <a:rPr lang="en-US" b="1" dirty="0"/>
              <a:t>Candidate cards </a:t>
            </a:r>
            <a:r>
              <a:rPr lang="en-US" dirty="0"/>
              <a:t>- Implemented candidate display cards with voting options. </a:t>
            </a:r>
          </a:p>
          <a:p>
            <a:pPr>
              <a:buFont typeface="Arial" panose="020B0604020202020204" pitchFamily="34" charset="0"/>
              <a:buChar char="•"/>
            </a:pPr>
            <a:r>
              <a:rPr lang="en-US" b="1" dirty="0"/>
              <a:t>Wallet connection </a:t>
            </a:r>
            <a:r>
              <a:rPr lang="en-US" dirty="0"/>
              <a:t>- Integrated </a:t>
            </a:r>
            <a:r>
              <a:rPr lang="en-US" dirty="0" err="1"/>
              <a:t>MetaMask</a:t>
            </a:r>
            <a:r>
              <a:rPr lang="en-US" dirty="0"/>
              <a:t> wallet connection for user authentication.</a:t>
            </a:r>
          </a:p>
          <a:p>
            <a:pPr>
              <a:buFont typeface="Arial" panose="020B0604020202020204" pitchFamily="34" charset="0"/>
              <a:buChar char="•"/>
            </a:pPr>
            <a:r>
              <a:rPr lang="en-US" b="1" dirty="0"/>
              <a:t>Voting Page </a:t>
            </a:r>
            <a:r>
              <a:rPr lang="en-US" dirty="0"/>
              <a:t>- Created voting interface for secure vote casting.</a:t>
            </a:r>
          </a:p>
          <a:p>
            <a:endParaRPr lang="en-IN" dirty="0"/>
          </a:p>
        </p:txBody>
      </p:sp>
    </p:spTree>
    <p:extLst>
      <p:ext uri="{BB962C8B-B14F-4D97-AF65-F5344CB8AC3E}">
        <p14:creationId xmlns:p14="http://schemas.microsoft.com/office/powerpoint/2010/main" val="11460772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5A947D-E52B-4B3C-B92C-AE37679D2BD1}"/>
              </a:ext>
            </a:extLst>
          </p:cNvPr>
          <p:cNvPicPr>
            <a:picLocks noGrp="1" noChangeAspect="1"/>
          </p:cNvPicPr>
          <p:nvPr>
            <p:ph idx="1"/>
          </p:nvPr>
        </p:nvPicPr>
        <p:blipFill>
          <a:blip r:embed="rId2"/>
          <a:stretch>
            <a:fillRect/>
          </a:stretch>
        </p:blipFill>
        <p:spPr>
          <a:xfrm>
            <a:off x="1090996" y="637980"/>
            <a:ext cx="10679791" cy="5582039"/>
          </a:xfrm>
        </p:spPr>
      </p:pic>
    </p:spTree>
    <p:extLst>
      <p:ext uri="{BB962C8B-B14F-4D97-AF65-F5344CB8AC3E}">
        <p14:creationId xmlns:p14="http://schemas.microsoft.com/office/powerpoint/2010/main" val="27714170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D01ED4-B136-489A-ACAE-EB7D52931C18}"/>
              </a:ext>
            </a:extLst>
          </p:cNvPr>
          <p:cNvPicPr>
            <a:picLocks noGrp="1" noChangeAspect="1"/>
          </p:cNvPicPr>
          <p:nvPr>
            <p:ph idx="1"/>
          </p:nvPr>
        </p:nvPicPr>
        <p:blipFill>
          <a:blip r:embed="rId2"/>
          <a:stretch>
            <a:fillRect/>
          </a:stretch>
        </p:blipFill>
        <p:spPr>
          <a:xfrm>
            <a:off x="4103461" y="1727012"/>
            <a:ext cx="4429239" cy="3673663"/>
          </a:xfrm>
        </p:spPr>
      </p:pic>
    </p:spTree>
    <p:extLst>
      <p:ext uri="{BB962C8B-B14F-4D97-AF65-F5344CB8AC3E}">
        <p14:creationId xmlns:p14="http://schemas.microsoft.com/office/powerpoint/2010/main" val="16295481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1EEF3B-BB5D-4A9D-A28B-58ADDAA8F9AC}"/>
              </a:ext>
            </a:extLst>
          </p:cNvPr>
          <p:cNvPicPr>
            <a:picLocks noGrp="1" noChangeAspect="1"/>
          </p:cNvPicPr>
          <p:nvPr>
            <p:ph idx="1"/>
          </p:nvPr>
        </p:nvPicPr>
        <p:blipFill>
          <a:blip r:embed="rId2"/>
          <a:stretch>
            <a:fillRect/>
          </a:stretch>
        </p:blipFill>
        <p:spPr>
          <a:xfrm>
            <a:off x="881466" y="704850"/>
            <a:ext cx="10429068" cy="5448300"/>
          </a:xfrm>
        </p:spPr>
      </p:pic>
    </p:spTree>
    <p:extLst>
      <p:ext uri="{BB962C8B-B14F-4D97-AF65-F5344CB8AC3E}">
        <p14:creationId xmlns:p14="http://schemas.microsoft.com/office/powerpoint/2010/main" val="17907357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15CA3B-C060-442C-A3A4-9028F01DBDD1}"/>
              </a:ext>
            </a:extLst>
          </p:cNvPr>
          <p:cNvPicPr>
            <a:picLocks noGrp="1" noChangeAspect="1"/>
          </p:cNvPicPr>
          <p:nvPr>
            <p:ph idx="1"/>
          </p:nvPr>
        </p:nvPicPr>
        <p:blipFill>
          <a:blip r:embed="rId2"/>
          <a:stretch>
            <a:fillRect/>
          </a:stretch>
        </p:blipFill>
        <p:spPr>
          <a:xfrm>
            <a:off x="1569752" y="2369907"/>
            <a:ext cx="4096322" cy="3305636"/>
          </a:xfrm>
        </p:spPr>
      </p:pic>
      <p:pic>
        <p:nvPicPr>
          <p:cNvPr id="7" name="Picture 6">
            <a:extLst>
              <a:ext uri="{FF2B5EF4-FFF2-40B4-BE49-F238E27FC236}">
                <a16:creationId xmlns:a16="http://schemas.microsoft.com/office/drawing/2014/main" id="{23AAC3EC-8D7C-4657-89D0-00CE2B2F767C}"/>
              </a:ext>
            </a:extLst>
          </p:cNvPr>
          <p:cNvPicPr>
            <a:picLocks noChangeAspect="1"/>
          </p:cNvPicPr>
          <p:nvPr/>
        </p:nvPicPr>
        <p:blipFill>
          <a:blip r:embed="rId3"/>
          <a:stretch>
            <a:fillRect/>
          </a:stretch>
        </p:blipFill>
        <p:spPr>
          <a:xfrm>
            <a:off x="7332651" y="2136500"/>
            <a:ext cx="4267796" cy="3943900"/>
          </a:xfrm>
          <a:prstGeom prst="rect">
            <a:avLst/>
          </a:prstGeom>
        </p:spPr>
      </p:pic>
      <p:sp>
        <p:nvSpPr>
          <p:cNvPr id="8" name="Arrow: Right 7">
            <a:extLst>
              <a:ext uri="{FF2B5EF4-FFF2-40B4-BE49-F238E27FC236}">
                <a16:creationId xmlns:a16="http://schemas.microsoft.com/office/drawing/2014/main" id="{9AD547EE-EA1D-4E16-BE26-4515228C61EE}"/>
              </a:ext>
            </a:extLst>
          </p:cNvPr>
          <p:cNvSpPr/>
          <p:nvPr/>
        </p:nvSpPr>
        <p:spPr>
          <a:xfrm>
            <a:off x="5987765" y="3581400"/>
            <a:ext cx="1076325" cy="13906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7759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1739C9-1B74-4F7D-98CA-74AB795DFE8B}"/>
              </a:ext>
            </a:extLst>
          </p:cNvPr>
          <p:cNvPicPr>
            <a:picLocks noGrp="1" noChangeAspect="1"/>
          </p:cNvPicPr>
          <p:nvPr>
            <p:ph idx="1"/>
          </p:nvPr>
        </p:nvPicPr>
        <p:blipFill>
          <a:blip r:embed="rId2"/>
          <a:stretch>
            <a:fillRect/>
          </a:stretch>
        </p:blipFill>
        <p:spPr>
          <a:xfrm>
            <a:off x="1555463" y="179742"/>
            <a:ext cx="3982005" cy="6498515"/>
          </a:xfrm>
        </p:spPr>
      </p:pic>
      <p:pic>
        <p:nvPicPr>
          <p:cNvPr id="7" name="Picture 6">
            <a:extLst>
              <a:ext uri="{FF2B5EF4-FFF2-40B4-BE49-F238E27FC236}">
                <a16:creationId xmlns:a16="http://schemas.microsoft.com/office/drawing/2014/main" id="{93CB5422-C02A-4C3D-93BF-F48468225468}"/>
              </a:ext>
            </a:extLst>
          </p:cNvPr>
          <p:cNvPicPr>
            <a:picLocks noChangeAspect="1"/>
          </p:cNvPicPr>
          <p:nvPr/>
        </p:nvPicPr>
        <p:blipFill>
          <a:blip r:embed="rId3"/>
          <a:stretch>
            <a:fillRect/>
          </a:stretch>
        </p:blipFill>
        <p:spPr>
          <a:xfrm>
            <a:off x="6523254" y="2124075"/>
            <a:ext cx="5327695" cy="3543300"/>
          </a:xfrm>
          <a:prstGeom prst="rect">
            <a:avLst/>
          </a:prstGeom>
        </p:spPr>
      </p:pic>
      <p:sp>
        <p:nvSpPr>
          <p:cNvPr id="8" name="Arrow: Right 7">
            <a:extLst>
              <a:ext uri="{FF2B5EF4-FFF2-40B4-BE49-F238E27FC236}">
                <a16:creationId xmlns:a16="http://schemas.microsoft.com/office/drawing/2014/main" id="{01019168-246E-4F89-85AE-5F6E09741355}"/>
              </a:ext>
            </a:extLst>
          </p:cNvPr>
          <p:cNvSpPr/>
          <p:nvPr/>
        </p:nvSpPr>
        <p:spPr>
          <a:xfrm>
            <a:off x="5730323" y="3162300"/>
            <a:ext cx="600075" cy="1000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503079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03DF5-B98E-4500-A342-F2CFA939D1F2}"/>
              </a:ext>
            </a:extLst>
          </p:cNvPr>
          <p:cNvSpPr>
            <a:spLocks noGrp="1"/>
          </p:cNvSpPr>
          <p:nvPr>
            <p:ph type="title"/>
          </p:nvPr>
        </p:nvSpPr>
        <p:spPr>
          <a:xfrm>
            <a:off x="1912986" y="317428"/>
            <a:ext cx="8911687" cy="1280890"/>
          </a:xfrm>
        </p:spPr>
        <p:txBody>
          <a:bodyPr/>
          <a:lstStyle/>
          <a:p>
            <a:r>
              <a:rPr lang="en-IN" dirty="0"/>
              <a:t>Transaction Details</a:t>
            </a:r>
          </a:p>
        </p:txBody>
      </p:sp>
      <p:pic>
        <p:nvPicPr>
          <p:cNvPr id="5" name="Content Placeholder 4">
            <a:extLst>
              <a:ext uri="{FF2B5EF4-FFF2-40B4-BE49-F238E27FC236}">
                <a16:creationId xmlns:a16="http://schemas.microsoft.com/office/drawing/2014/main" id="{6BB056FE-990A-4082-BF1B-47F94CE6B3FF}"/>
              </a:ext>
            </a:extLst>
          </p:cNvPr>
          <p:cNvPicPr>
            <a:picLocks noGrp="1" noChangeAspect="1"/>
          </p:cNvPicPr>
          <p:nvPr>
            <p:ph idx="1"/>
          </p:nvPr>
        </p:nvPicPr>
        <p:blipFill>
          <a:blip r:embed="rId2"/>
          <a:stretch>
            <a:fillRect/>
          </a:stretch>
        </p:blipFill>
        <p:spPr>
          <a:xfrm>
            <a:off x="1385448" y="1800224"/>
            <a:ext cx="2130985" cy="3778250"/>
          </a:xfrm>
        </p:spPr>
      </p:pic>
      <p:pic>
        <p:nvPicPr>
          <p:cNvPr id="7" name="Picture 6">
            <a:extLst>
              <a:ext uri="{FF2B5EF4-FFF2-40B4-BE49-F238E27FC236}">
                <a16:creationId xmlns:a16="http://schemas.microsoft.com/office/drawing/2014/main" id="{136A5A2D-B9AA-49EF-8FB6-BA157F844C45}"/>
              </a:ext>
            </a:extLst>
          </p:cNvPr>
          <p:cNvPicPr>
            <a:picLocks noChangeAspect="1"/>
          </p:cNvPicPr>
          <p:nvPr/>
        </p:nvPicPr>
        <p:blipFill>
          <a:blip r:embed="rId3"/>
          <a:stretch>
            <a:fillRect/>
          </a:stretch>
        </p:blipFill>
        <p:spPr>
          <a:xfrm>
            <a:off x="3810000" y="1191551"/>
            <a:ext cx="8382000" cy="5666449"/>
          </a:xfrm>
          <a:prstGeom prst="rect">
            <a:avLst/>
          </a:prstGeom>
        </p:spPr>
      </p:pic>
    </p:spTree>
    <p:extLst>
      <p:ext uri="{BB962C8B-B14F-4D97-AF65-F5344CB8AC3E}">
        <p14:creationId xmlns:p14="http://schemas.microsoft.com/office/powerpoint/2010/main" val="42017036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D42B7FE-A50D-46F2-8018-8A286624EE15}"/>
              </a:ext>
            </a:extLst>
          </p:cNvPr>
          <p:cNvPicPr>
            <a:picLocks noGrp="1" noChangeAspect="1"/>
          </p:cNvPicPr>
          <p:nvPr>
            <p:ph idx="1"/>
          </p:nvPr>
        </p:nvPicPr>
        <p:blipFill rotWithShape="1">
          <a:blip r:embed="rId2"/>
          <a:srcRect r="24570"/>
          <a:stretch/>
        </p:blipFill>
        <p:spPr>
          <a:xfrm>
            <a:off x="1130300" y="1509708"/>
            <a:ext cx="10524671" cy="4412119"/>
          </a:xfrm>
        </p:spPr>
      </p:pic>
    </p:spTree>
    <p:extLst>
      <p:ext uri="{BB962C8B-B14F-4D97-AF65-F5344CB8AC3E}">
        <p14:creationId xmlns:p14="http://schemas.microsoft.com/office/powerpoint/2010/main" val="19656426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E05731-5634-4318-951B-D6FA15E02891}"/>
              </a:ext>
            </a:extLst>
          </p:cNvPr>
          <p:cNvPicPr>
            <a:picLocks noGrp="1" noChangeAspect="1"/>
          </p:cNvPicPr>
          <p:nvPr>
            <p:ph idx="1"/>
          </p:nvPr>
        </p:nvPicPr>
        <p:blipFill>
          <a:blip r:embed="rId2"/>
          <a:stretch>
            <a:fillRect/>
          </a:stretch>
        </p:blipFill>
        <p:spPr>
          <a:xfrm>
            <a:off x="251046" y="61912"/>
            <a:ext cx="11689908" cy="6734175"/>
          </a:xfrm>
        </p:spPr>
      </p:pic>
    </p:spTree>
    <p:extLst>
      <p:ext uri="{BB962C8B-B14F-4D97-AF65-F5344CB8AC3E}">
        <p14:creationId xmlns:p14="http://schemas.microsoft.com/office/powerpoint/2010/main" val="21722699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43F70-8B4B-48ED-A0A4-073DFB6DA40B}"/>
              </a:ext>
            </a:extLst>
          </p:cNvPr>
          <p:cNvSpPr>
            <a:spLocks noGrp="1"/>
          </p:cNvSpPr>
          <p:nvPr>
            <p:ph type="title"/>
          </p:nvPr>
        </p:nvSpPr>
        <p:spPr/>
        <p:txBody>
          <a:bodyPr/>
          <a:lstStyle/>
          <a:p>
            <a:r>
              <a:rPr lang="en-US" dirty="0"/>
              <a:t>END-TO-END WORKFLOW</a:t>
            </a:r>
            <a:endParaRPr lang="en-IN" dirty="0"/>
          </a:p>
        </p:txBody>
      </p:sp>
      <p:pic>
        <p:nvPicPr>
          <p:cNvPr id="5" name="Content Placeholder 4">
            <a:extLst>
              <a:ext uri="{FF2B5EF4-FFF2-40B4-BE49-F238E27FC236}">
                <a16:creationId xmlns:a16="http://schemas.microsoft.com/office/drawing/2014/main" id="{4D97C6E7-2994-4525-B446-911ED29270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1940" y="1337926"/>
            <a:ext cx="9135655" cy="5411163"/>
          </a:xfrm>
        </p:spPr>
      </p:pic>
    </p:spTree>
    <p:extLst>
      <p:ext uri="{BB962C8B-B14F-4D97-AF65-F5344CB8AC3E}">
        <p14:creationId xmlns:p14="http://schemas.microsoft.com/office/powerpoint/2010/main" val="35823452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6441-7116-428A-AC46-1C2464094189}"/>
              </a:ext>
            </a:extLst>
          </p:cNvPr>
          <p:cNvSpPr>
            <a:spLocks noGrp="1"/>
          </p:cNvSpPr>
          <p:nvPr>
            <p:ph type="title"/>
          </p:nvPr>
        </p:nvSpPr>
        <p:spPr/>
        <p:txBody>
          <a:bodyPr/>
          <a:lstStyle/>
          <a:p>
            <a:r>
              <a:rPr lang="en-IN" dirty="0"/>
              <a:t>Testing Progress</a:t>
            </a:r>
            <a:br>
              <a:rPr lang="en-IN" dirty="0"/>
            </a:br>
            <a:endParaRPr lang="en-IN" dirty="0"/>
          </a:p>
        </p:txBody>
      </p:sp>
      <p:sp>
        <p:nvSpPr>
          <p:cNvPr id="3" name="Content Placeholder 2">
            <a:extLst>
              <a:ext uri="{FF2B5EF4-FFF2-40B4-BE49-F238E27FC236}">
                <a16:creationId xmlns:a16="http://schemas.microsoft.com/office/drawing/2014/main" id="{78A82AC6-7F02-4F35-8794-A520BE604CCE}"/>
              </a:ext>
            </a:extLst>
          </p:cNvPr>
          <p:cNvSpPr>
            <a:spLocks noGrp="1"/>
          </p:cNvSpPr>
          <p:nvPr>
            <p:ph idx="1"/>
          </p:nvPr>
        </p:nvSpPr>
        <p:spPr/>
        <p:txBody>
          <a:bodyPr>
            <a:normAutofit/>
          </a:bodyPr>
          <a:lstStyle/>
          <a:p>
            <a:pPr>
              <a:buFont typeface="Wingdings" panose="05000000000000000000" pitchFamily="2" charset="2"/>
              <a:buChar char="Ø"/>
            </a:pPr>
            <a:r>
              <a:rPr lang="en-IN" b="1" dirty="0"/>
              <a:t>Functional Testing </a:t>
            </a:r>
            <a:r>
              <a:rPr lang="en-IN" dirty="0"/>
              <a:t>- Tested voting, candidate loading, and result generation features.</a:t>
            </a:r>
          </a:p>
          <a:p>
            <a:pPr>
              <a:buFont typeface="Wingdings" panose="05000000000000000000" pitchFamily="2" charset="2"/>
              <a:buChar char="Ø"/>
            </a:pPr>
            <a:r>
              <a:rPr lang="en-IN" b="1" dirty="0"/>
              <a:t>Duplicate Vote Testing </a:t>
            </a:r>
            <a:r>
              <a:rPr lang="en-IN" dirty="0"/>
              <a:t>- Verified prevention of multiple voting attempts by same user.</a:t>
            </a:r>
          </a:p>
          <a:p>
            <a:pPr>
              <a:buFont typeface="Wingdings" panose="05000000000000000000" pitchFamily="2" charset="2"/>
              <a:buChar char="Ø"/>
            </a:pPr>
            <a:r>
              <a:rPr lang="en-IN" b="1" dirty="0"/>
              <a:t>Security Testing </a:t>
            </a:r>
            <a:r>
              <a:rPr lang="en-IN" dirty="0"/>
              <a:t>- Tested unauthorized access and invalid transaction handling.</a:t>
            </a:r>
          </a:p>
          <a:p>
            <a:pPr>
              <a:buFont typeface="Wingdings" panose="05000000000000000000" pitchFamily="2" charset="2"/>
              <a:buChar char="Ø"/>
            </a:pPr>
            <a:r>
              <a:rPr lang="en-IN" b="1" dirty="0"/>
              <a:t>Blockchain Transaction Testing </a:t>
            </a:r>
            <a:r>
              <a:rPr lang="en-IN" dirty="0"/>
              <a:t>- Verified successful transaction recording and confirmation on blockchain. </a:t>
            </a:r>
          </a:p>
          <a:p>
            <a:endParaRPr lang="en-IN" dirty="0"/>
          </a:p>
        </p:txBody>
      </p:sp>
    </p:spTree>
    <p:extLst>
      <p:ext uri="{BB962C8B-B14F-4D97-AF65-F5344CB8AC3E}">
        <p14:creationId xmlns:p14="http://schemas.microsoft.com/office/powerpoint/2010/main" val="15673193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8D56A-2686-49CA-B6DA-DA9F50476492}"/>
              </a:ext>
            </a:extLst>
          </p:cNvPr>
          <p:cNvSpPr>
            <a:spLocks noGrp="1"/>
          </p:cNvSpPr>
          <p:nvPr>
            <p:ph type="title"/>
          </p:nvPr>
        </p:nvSpPr>
        <p:spPr/>
        <p:txBody>
          <a:bodyPr/>
          <a:lstStyle/>
          <a:p>
            <a:r>
              <a:rPr lang="en-IN" dirty="0"/>
              <a:t>Current Implementation Status</a:t>
            </a:r>
          </a:p>
        </p:txBody>
      </p:sp>
      <p:graphicFrame>
        <p:nvGraphicFramePr>
          <p:cNvPr id="4" name="Content Placeholder 3">
            <a:extLst>
              <a:ext uri="{FF2B5EF4-FFF2-40B4-BE49-F238E27FC236}">
                <a16:creationId xmlns:a16="http://schemas.microsoft.com/office/drawing/2014/main" id="{856F073E-C167-44FF-B21F-1EC6C8E140FC}"/>
              </a:ext>
            </a:extLst>
          </p:cNvPr>
          <p:cNvGraphicFramePr>
            <a:graphicFrameLocks noGrp="1"/>
          </p:cNvGraphicFramePr>
          <p:nvPr>
            <p:ph idx="1"/>
            <p:extLst>
              <p:ext uri="{D42A27DB-BD31-4B8C-83A1-F6EECF244321}">
                <p14:modId xmlns:p14="http://schemas.microsoft.com/office/powerpoint/2010/main" val="2763793745"/>
              </p:ext>
            </p:extLst>
          </p:nvPr>
        </p:nvGraphicFramePr>
        <p:xfrm>
          <a:off x="2592925" y="1905000"/>
          <a:ext cx="8372258" cy="3744781"/>
        </p:xfrm>
        <a:graphic>
          <a:graphicData uri="http://schemas.openxmlformats.org/drawingml/2006/table">
            <a:tbl>
              <a:tblPr>
                <a:tableStyleId>{2D5ABB26-0587-4C30-8999-92F81FD0307C}</a:tableStyleId>
              </a:tblPr>
              <a:tblGrid>
                <a:gridCol w="5179475">
                  <a:extLst>
                    <a:ext uri="{9D8B030D-6E8A-4147-A177-3AD203B41FA5}">
                      <a16:colId xmlns:a16="http://schemas.microsoft.com/office/drawing/2014/main" val="1203058884"/>
                    </a:ext>
                  </a:extLst>
                </a:gridCol>
                <a:gridCol w="3192783">
                  <a:extLst>
                    <a:ext uri="{9D8B030D-6E8A-4147-A177-3AD203B41FA5}">
                      <a16:colId xmlns:a16="http://schemas.microsoft.com/office/drawing/2014/main" val="1201885191"/>
                    </a:ext>
                  </a:extLst>
                </a:gridCol>
              </a:tblGrid>
              <a:tr h="331563">
                <a:tc>
                  <a:txBody>
                    <a:bodyPr/>
                    <a:lstStyle/>
                    <a:p>
                      <a:r>
                        <a:rPr lang="en-IN" sz="1700" b="1" dirty="0"/>
                        <a:t>Module</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b="1" dirty="0"/>
                        <a:t>Status</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3692950"/>
                  </a:ext>
                </a:extLst>
              </a:tr>
              <a:tr h="331563">
                <a:tc>
                  <a:txBody>
                    <a:bodyPr/>
                    <a:lstStyle/>
                    <a:p>
                      <a:r>
                        <a:rPr lang="en-IN" sz="1700" dirty="0"/>
                        <a:t>Smart Contract Development</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5274469"/>
                  </a:ext>
                </a:extLst>
              </a:tr>
              <a:tr h="331563">
                <a:tc>
                  <a:txBody>
                    <a:bodyPr/>
                    <a:lstStyle/>
                    <a:p>
                      <a:r>
                        <a:rPr lang="en-IN" sz="1700" dirty="0"/>
                        <a:t>Frontend Development</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dirty="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094338"/>
                  </a:ext>
                </a:extLst>
              </a:tr>
              <a:tr h="359130">
                <a:tc>
                  <a:txBody>
                    <a:bodyPr/>
                    <a:lstStyle/>
                    <a:p>
                      <a:r>
                        <a:rPr lang="en-IN" sz="1700" dirty="0"/>
                        <a:t>Wallet Integration</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3851881"/>
                  </a:ext>
                </a:extLst>
              </a:tr>
              <a:tr h="331563">
                <a:tc>
                  <a:txBody>
                    <a:bodyPr/>
                    <a:lstStyle/>
                    <a:p>
                      <a:r>
                        <a:rPr lang="en-IN" sz="1700" dirty="0"/>
                        <a:t>Blockchain Integration</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3801242"/>
                  </a:ext>
                </a:extLst>
              </a:tr>
              <a:tr h="331563">
                <a:tc>
                  <a:txBody>
                    <a:bodyPr/>
                    <a:lstStyle/>
                    <a:p>
                      <a:r>
                        <a:rPr lang="en-IN" sz="1700" dirty="0"/>
                        <a:t>Smart Contract Deployment</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71041"/>
                  </a:ext>
                </a:extLst>
              </a:tr>
              <a:tr h="331563">
                <a:tc>
                  <a:txBody>
                    <a:bodyPr/>
                    <a:lstStyle/>
                    <a:p>
                      <a:r>
                        <a:rPr lang="en-IN" sz="1700" dirty="0"/>
                        <a:t>Vote Casting System</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76382"/>
                  </a:ext>
                </a:extLst>
              </a:tr>
              <a:tr h="331563">
                <a:tc>
                  <a:txBody>
                    <a:bodyPr/>
                    <a:lstStyle/>
                    <a:p>
                      <a:r>
                        <a:rPr lang="en-IN" sz="1700" dirty="0"/>
                        <a:t>Duplicate Vote Prevention</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4429"/>
                  </a:ext>
                </a:extLst>
              </a:tr>
              <a:tr h="366971">
                <a:tc>
                  <a:txBody>
                    <a:bodyPr/>
                    <a:lstStyle/>
                    <a:p>
                      <a:r>
                        <a:rPr lang="en-IN" sz="1700" dirty="0"/>
                        <a:t>Countdown Timer</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dirty="0"/>
                        <a:t>Completed</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375027"/>
                  </a:ext>
                </a:extLst>
              </a:tr>
              <a:tr h="58058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700" dirty="0"/>
                        <a:t>Testing and Validation</a:t>
                      </a:r>
                    </a:p>
                    <a:p>
                      <a:endParaRPr lang="en-IN" sz="1700" dirty="0"/>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700" dirty="0"/>
                        <a:t>Completed till current logic</a:t>
                      </a:r>
                    </a:p>
                  </a:txBody>
                  <a:tcPr marL="85869" marR="85869" marT="42935" marB="429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1100475"/>
                  </a:ext>
                </a:extLst>
              </a:tr>
            </a:tbl>
          </a:graphicData>
        </a:graphic>
      </p:graphicFrame>
    </p:spTree>
    <p:extLst>
      <p:ext uri="{BB962C8B-B14F-4D97-AF65-F5344CB8AC3E}">
        <p14:creationId xmlns:p14="http://schemas.microsoft.com/office/powerpoint/2010/main" val="13195470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AA15C-20E5-4E52-B253-CA8898AE0446}"/>
              </a:ext>
            </a:extLst>
          </p:cNvPr>
          <p:cNvSpPr>
            <a:spLocks noGrp="1"/>
          </p:cNvSpPr>
          <p:nvPr>
            <p:ph type="title"/>
          </p:nvPr>
        </p:nvSpPr>
        <p:spPr/>
        <p:txBody>
          <a:bodyPr/>
          <a:lstStyle/>
          <a:p>
            <a:r>
              <a:rPr lang="en-IN" dirty="0"/>
              <a:t>Challenges Faced During Implementation</a:t>
            </a:r>
          </a:p>
        </p:txBody>
      </p:sp>
      <p:sp>
        <p:nvSpPr>
          <p:cNvPr id="3" name="Content Placeholder 2">
            <a:extLst>
              <a:ext uri="{FF2B5EF4-FFF2-40B4-BE49-F238E27FC236}">
                <a16:creationId xmlns:a16="http://schemas.microsoft.com/office/drawing/2014/main" id="{865F0CAA-2754-4732-AEDE-0546A2851D5F}"/>
              </a:ext>
            </a:extLst>
          </p:cNvPr>
          <p:cNvSpPr>
            <a:spLocks noGrp="1"/>
          </p:cNvSpPr>
          <p:nvPr>
            <p:ph idx="1"/>
          </p:nvPr>
        </p:nvSpPr>
        <p:spPr/>
        <p:txBody>
          <a:bodyPr>
            <a:normAutofit fontScale="70000" lnSpcReduction="20000"/>
          </a:bodyPr>
          <a:lstStyle/>
          <a:p>
            <a:pPr>
              <a:buFont typeface="Wingdings" panose="05000000000000000000" pitchFamily="2" charset="2"/>
              <a:buChar char="Ø"/>
            </a:pPr>
            <a:r>
              <a:rPr lang="en-IN" sz="2800" b="1" dirty="0"/>
              <a:t>MetaMask Connection Issues </a:t>
            </a:r>
            <a:r>
              <a:rPr lang="en-IN" sz="2800" dirty="0"/>
              <a:t>- Improved wallet connection handling and account detection.</a:t>
            </a:r>
          </a:p>
          <a:p>
            <a:pPr>
              <a:buFont typeface="Wingdings" panose="05000000000000000000" pitchFamily="2" charset="2"/>
              <a:buChar char="Ø"/>
            </a:pPr>
            <a:r>
              <a:rPr lang="en-IN" sz="2800" b="1" dirty="0"/>
              <a:t>Smart Contract Deployment Errors </a:t>
            </a:r>
            <a:r>
              <a:rPr lang="en-IN" sz="2800" dirty="0"/>
              <a:t>- Fixed Hardhat configuration and deployment scripts.</a:t>
            </a:r>
          </a:p>
          <a:p>
            <a:pPr>
              <a:buFont typeface="Wingdings" panose="05000000000000000000" pitchFamily="2" charset="2"/>
              <a:buChar char="Ø"/>
            </a:pPr>
            <a:r>
              <a:rPr lang="en-IN" sz="2800" b="1" dirty="0"/>
              <a:t>Transaction Confirmation Delay </a:t>
            </a:r>
            <a:r>
              <a:rPr lang="en-IN" sz="2800" dirty="0"/>
              <a:t>- Added loading indicators and transaction status handling. </a:t>
            </a:r>
          </a:p>
          <a:p>
            <a:pPr>
              <a:buFont typeface="Wingdings" panose="05000000000000000000" pitchFamily="2" charset="2"/>
              <a:buChar char="Ø"/>
            </a:pPr>
            <a:r>
              <a:rPr lang="en-IN" sz="2800" b="1" dirty="0"/>
              <a:t>Network Delays on Blockchain </a:t>
            </a:r>
            <a:r>
              <a:rPr lang="en-IN" sz="2800" dirty="0"/>
              <a:t>- Implemented transaction waiting and confirmation handling for stable processing.</a:t>
            </a:r>
          </a:p>
          <a:p>
            <a:pPr>
              <a:buFont typeface="Wingdings" panose="05000000000000000000" pitchFamily="2" charset="2"/>
              <a:buChar char="Ø"/>
            </a:pPr>
            <a:r>
              <a:rPr lang="en-IN" sz="2800" b="1" dirty="0"/>
              <a:t>Frontend State Synchronization </a:t>
            </a:r>
            <a:r>
              <a:rPr lang="en-IN" sz="2800" dirty="0"/>
              <a:t>- Improved React state management for real-time updates.</a:t>
            </a:r>
          </a:p>
          <a:p>
            <a:pPr>
              <a:buFont typeface="Wingdings" panose="05000000000000000000" pitchFamily="2" charset="2"/>
              <a:buChar char="Ø"/>
            </a:pPr>
            <a:r>
              <a:rPr lang="en-IN" sz="2800" b="1" dirty="0"/>
              <a:t>Blockchain Interaction Errors </a:t>
            </a:r>
            <a:r>
              <a:rPr lang="en-IN" sz="2800" dirty="0"/>
              <a:t>- Implemented proper Ethers.js error handling and validation.</a:t>
            </a:r>
          </a:p>
        </p:txBody>
      </p:sp>
    </p:spTree>
    <p:extLst>
      <p:ext uri="{BB962C8B-B14F-4D97-AF65-F5344CB8AC3E}">
        <p14:creationId xmlns:p14="http://schemas.microsoft.com/office/powerpoint/2010/main" val="12927051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9EA3-7AD2-410A-9D11-D16EF6F7B275}"/>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EBB0E9C1-2E75-4199-BFB1-50B5BA13729B}"/>
              </a:ext>
            </a:extLst>
          </p:cNvPr>
          <p:cNvSpPr>
            <a:spLocks noGrp="1"/>
          </p:cNvSpPr>
          <p:nvPr>
            <p:ph idx="1"/>
          </p:nvPr>
        </p:nvSpPr>
        <p:spPr/>
        <p:txBody>
          <a:bodyPr>
            <a:normAutofit/>
          </a:bodyPr>
          <a:lstStyle/>
          <a:p>
            <a:pPr>
              <a:buFont typeface="Wingdings" panose="05000000000000000000" pitchFamily="2" charset="2"/>
              <a:buChar char="Ø"/>
            </a:pPr>
            <a:r>
              <a:rPr lang="en-IN" b="1" dirty="0"/>
              <a:t>Biometric Authentication </a:t>
            </a:r>
            <a:r>
              <a:rPr lang="en-IN" dirty="0"/>
              <a:t>- Add fingerprint or facial authentication for secure voter verification.</a:t>
            </a:r>
          </a:p>
          <a:p>
            <a:pPr>
              <a:buFont typeface="Wingdings" panose="05000000000000000000" pitchFamily="2" charset="2"/>
              <a:buChar char="Ø"/>
            </a:pPr>
            <a:r>
              <a:rPr lang="en-IN" b="1" dirty="0"/>
              <a:t>Mobile Voting Support </a:t>
            </a:r>
            <a:r>
              <a:rPr lang="en-IN" dirty="0"/>
              <a:t>- Develop mobile-friendly voting platform for remote voting access.</a:t>
            </a:r>
          </a:p>
          <a:p>
            <a:pPr>
              <a:buFont typeface="Wingdings" panose="05000000000000000000" pitchFamily="2" charset="2"/>
              <a:buChar char="Ø"/>
            </a:pPr>
            <a:r>
              <a:rPr lang="en-IN" b="1" dirty="0"/>
              <a:t>Admin Dashboard </a:t>
            </a:r>
            <a:r>
              <a:rPr lang="en-IN" dirty="0"/>
              <a:t>- Implement advanced election management and monitoring features.</a:t>
            </a:r>
          </a:p>
          <a:p>
            <a:pPr>
              <a:buFont typeface="Wingdings" panose="05000000000000000000" pitchFamily="2" charset="2"/>
              <a:buChar char="Ø"/>
            </a:pPr>
            <a:r>
              <a:rPr lang="en-IN" b="1" dirty="0"/>
              <a:t>Scalability Improvements </a:t>
            </a:r>
            <a:r>
              <a:rPr lang="en-IN" dirty="0"/>
              <a:t>- Optimize blockchain performance for large-scale elections.</a:t>
            </a:r>
          </a:p>
          <a:p>
            <a:pPr>
              <a:buFont typeface="Wingdings" panose="05000000000000000000" pitchFamily="2" charset="2"/>
              <a:buChar char="Ø"/>
            </a:pPr>
            <a:r>
              <a:rPr lang="en-IN" b="1" dirty="0"/>
              <a:t>Enhanced Privacy </a:t>
            </a:r>
            <a:r>
              <a:rPr lang="en-IN" dirty="0"/>
              <a:t>- Integrate advanced cryptographic privacy-preserving techniques.</a:t>
            </a:r>
            <a:endParaRPr lang="en-US" dirty="0"/>
          </a:p>
          <a:p>
            <a:endParaRPr lang="en-IN" dirty="0"/>
          </a:p>
        </p:txBody>
      </p:sp>
    </p:spTree>
    <p:extLst>
      <p:ext uri="{BB962C8B-B14F-4D97-AF65-F5344CB8AC3E}">
        <p14:creationId xmlns:p14="http://schemas.microsoft.com/office/powerpoint/2010/main" val="10409669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D5791-7D3E-4FA6-AEB1-6C59DEE78CD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548D916-D8C0-4EF5-B93A-2E3C67BC7B49}"/>
              </a:ext>
            </a:extLst>
          </p:cNvPr>
          <p:cNvSpPr>
            <a:spLocks noGrp="1"/>
          </p:cNvSpPr>
          <p:nvPr>
            <p:ph idx="1"/>
          </p:nvPr>
        </p:nvSpPr>
        <p:spPr/>
        <p:txBody>
          <a:bodyPr/>
          <a:lstStyle/>
          <a:p>
            <a:pPr marL="0" indent="0">
              <a:buNone/>
            </a:pPr>
            <a:r>
              <a:rPr lang="en-US" dirty="0"/>
              <a:t>The Blockchain-Based E-Voting System implementation has been successfully completed for the core modules, including smart contract development, frontend integration, blockchain deployment, wallet authentication, and secure vote casting. The system demonstrates decentralized and transparent electronic voting using Ethereum blockchain technology. </a:t>
            </a:r>
          </a:p>
          <a:p>
            <a:pPr marL="0" indent="0">
              <a:buNone/>
            </a:pPr>
            <a:r>
              <a:rPr lang="en-US" dirty="0"/>
              <a:t>Testing results confirmed secure transaction handling, duplicate vote prevention, and successful smart contract execution. The project establishes a strong foundation for secure and trustworthy blockchain-based electronic voting systems. </a:t>
            </a:r>
          </a:p>
        </p:txBody>
      </p:sp>
    </p:spTree>
    <p:extLst>
      <p:ext uri="{BB962C8B-B14F-4D97-AF65-F5344CB8AC3E}">
        <p14:creationId xmlns:p14="http://schemas.microsoft.com/office/powerpoint/2010/main" val="23243389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9DAD9-FFB6-45FE-87A4-EA8521C38682}"/>
              </a:ext>
            </a:extLst>
          </p:cNvPr>
          <p:cNvSpPr>
            <a:spLocks noGrp="1"/>
          </p:cNvSpPr>
          <p:nvPr>
            <p:ph type="title"/>
          </p:nvPr>
        </p:nvSpPr>
        <p:spPr>
          <a:xfrm>
            <a:off x="1745200" y="2519585"/>
            <a:ext cx="8911687" cy="1280890"/>
          </a:xfrm>
        </p:spPr>
        <p:txBody>
          <a:bodyPr>
            <a:normAutofit fontScale="90000"/>
          </a:bodyPr>
          <a:lstStyle/>
          <a:p>
            <a:pPr algn="ctr"/>
            <a:r>
              <a:rPr lang="en-US" sz="8000" b="1" dirty="0"/>
              <a:t>THANK YOU</a:t>
            </a:r>
            <a:endParaRPr lang="en-IN" sz="8000" b="1" dirty="0"/>
          </a:p>
        </p:txBody>
      </p:sp>
    </p:spTree>
    <p:extLst>
      <p:ext uri="{BB962C8B-B14F-4D97-AF65-F5344CB8AC3E}">
        <p14:creationId xmlns:p14="http://schemas.microsoft.com/office/powerpoint/2010/main" val="9607533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589</TotalTime>
  <Words>842</Words>
  <Application>Microsoft Office PowerPoint</Application>
  <PresentationFormat>Widescreen</PresentationFormat>
  <Paragraphs>109</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Century Gothic</vt:lpstr>
      <vt:lpstr>Segoe UI Variable Text</vt:lpstr>
      <vt:lpstr>Wingdings</vt:lpstr>
      <vt:lpstr>Wingdings 3</vt:lpstr>
      <vt:lpstr>Wisp</vt:lpstr>
      <vt:lpstr>Blockchain-Based E-Voting System</vt:lpstr>
      <vt:lpstr>Introduction</vt:lpstr>
      <vt:lpstr>System Architecture</vt:lpstr>
      <vt:lpstr>Architectural Layers</vt:lpstr>
      <vt:lpstr>Development and Implementation Tools Used</vt:lpstr>
      <vt:lpstr>MetaMask Setup</vt:lpstr>
      <vt:lpstr>PowerPoint Presentation</vt:lpstr>
      <vt:lpstr>PowerPoint Presentation</vt:lpstr>
      <vt:lpstr>PowerPoint Presentation</vt:lpstr>
      <vt:lpstr>PowerPoint Presentation</vt:lpstr>
      <vt:lpstr>Blockchain Stack</vt:lpstr>
      <vt:lpstr>Blockchain Development Environment</vt:lpstr>
      <vt:lpstr>Smart Contract Development</vt:lpstr>
      <vt:lpstr>Smart Contract Deployment</vt:lpstr>
      <vt:lpstr>PowerPoint Presentation</vt:lpstr>
      <vt:lpstr>Frontend Stack</vt:lpstr>
      <vt:lpstr>Frontend Development</vt:lpstr>
      <vt:lpstr>PowerPoint Presentation</vt:lpstr>
      <vt:lpstr>PowerPoint Presentation</vt:lpstr>
      <vt:lpstr>PowerPoint Presentation</vt:lpstr>
      <vt:lpstr>PowerPoint Presentation</vt:lpstr>
      <vt:lpstr>PowerPoint Presentation</vt:lpstr>
      <vt:lpstr>Transaction Details</vt:lpstr>
      <vt:lpstr>PowerPoint Presentation</vt:lpstr>
      <vt:lpstr>PowerPoint Presentation</vt:lpstr>
      <vt:lpstr>END-TO-END WORKFLOW</vt:lpstr>
      <vt:lpstr>Testing Progress </vt:lpstr>
      <vt:lpstr>Current Implementation Status</vt:lpstr>
      <vt:lpstr>Challenges Faced During Implementation</vt:lpstr>
      <vt:lpstr>Future Enhancements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E-Voting System</dc:title>
  <dc:creator>sanjoy khoirom</dc:creator>
  <cp:lastModifiedBy>sanjoy khoirom</cp:lastModifiedBy>
  <cp:revision>45</cp:revision>
  <dcterms:created xsi:type="dcterms:W3CDTF">2026-05-19T06:26:33Z</dcterms:created>
  <dcterms:modified xsi:type="dcterms:W3CDTF">2026-05-20T06:14:28Z</dcterms:modified>
</cp:coreProperties>
</file>